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72d35fba-a2e2-e396-fef0-78824f00cb5f}">
          <p14:sldIdLst>
            <p14:sldId id="256"/>
          </p14:sldIdLst>
        </p14:section>
        <p14:section name="Diagrams" id="{df809b6b-223e-907d-48e4-80f760509844}">
          <p14:sldIdLst>
            <p14:sldId id="257"/>
            <p14:sldId id="258"/>
          </p14:sldIdLst>
        </p14:section>
        <p14:section name="Compare" id="{8faf2ca4-a899-a62a-5b76-4ed07538f0b0}">
          <p14:sldIdLst>
            <p14:sldId id="259"/>
            <p14:sldId id="260"/>
          </p14:sldIdLst>
        </p14:section>
        <p14:section name="About me" id="{b20ee140-cac8-233d-62d0-e5e60c70b27b}">
          <p14:sldIdLst>
            <p14:sldId id="261"/>
            <p14:sldId id="262"/>
          </p14:sldIdLst>
        </p14:section>
        <p14:section name="End" id="{55f6255a-c7e5-8608-fd63-0f90711266a5}">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My name is … . My project is about education in Russia. I want to compare it with education in England.
Привет! Меня зовут … . Мой проект — об образовании в России. Я хочу сравнить его с образованием в Англии.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education system in England. Children go to primary school at 5. At 11 they go to secondary school. At 16 they can go to sixth form college. At 18 they go to university.
Это система образования в Англии. Дети идут в начальную школу в 5 лет. В 11 — в среднюю школу. В 16 могут пойти в колледж шестого класса. В 18 — в университет.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my diagram about education in Russia. Small children go to kindergarten from 3 to 7. At 7 we go to primary school, Years 1 to 4. At 11 we go to secondary school, Years 5 to 9. Then students stay at school for Years 10 and 11, or they go to college. After school, at 17 or 18, students go to university.
Это моя схема образования в России. Маленькие дети ходят в детский сад с 3 до 7 лет. В 7 лет мы идём в начальную школу, 1–4 классы. В 11 — в основную школу, 5–9 классы. Потом ученики остаются в школе в 10–11 классах или идут в колледж. После школы, в 17–18 лет, поступают в университет.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at the two lines. In England children start school at 5. In Russia they start at 7. But secondary school starts at 11 in both countries. School finishes at 18 in England and at 17 or 18 in Russia.
Посмотрите на две линии. В Англии дети начинают школу в 5 лет, в России — в 7. Но основная (средняя) школа начинается в 11 лет в обеих странах. Школа заканчивается в 18 в Англии и в 17–18 в России.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systems are similar in some ways. In both countries children go to secondary school at 11, students take big exams at 16 and 18 — GCSEs and A-levels in England, OGE and EGE in Russia — and after school they can go to university.
But there are differences. English children start school at 5, Russian children start at 7. In Russia Years 1 to 11 are often in one school. In England students often go to sixth form college at 16.
Наши системы похожи: в обеих странах в 11 лет идут в среднюю школу, сдают большие экзамены в 16 и 18 (GCSE и A-levels в Англии, ОГЭ и ЕГЭ в России), после школы можно поступить в университет.
Но есть различия: в Англии школа начинается в 5 лет, в России — в 7. В России 1–11 классы часто в одной школе. В Англии в 16 лет часто переходят в колледж шестого класса.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name is … . I'm … years old. I'm at secondary school. I'm in Year 5. My favourite subject is … .
Меня зовут … . Мне … лет. Я учусь в основной (средней) школе. Я в 5 классе. Мой любимый предмет — … .
(Если ученица ещё в начальной школе — замените на primary school и свой класс.)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Повтори слова перед выступлением: прочитай вслух английское слово, закрой его и вспомни по русскому.
years old — лет (возраст) · Year 5 — 5 класс · similar — похожий · different — разный.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listening! Do you have any questions?
Спасибо за внимание! Есть вопросы?
Возможные вопросы: What school are you at? — I'm at secondary school. How old are you? — I'm 11. Do you like your school? — Yes, I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5120640" cy="1371600"/>
          </a:xfrm>
          <a:prstGeom prst="rect">
            <a:avLst/>
          </a:prstGeom>
          <a:noFill/>
          <a:ln/>
        </p:spPr>
        <p:txBody>
          <a:bodyPr wrap="square" rtlCol="0"/>
          <a:lstStyle>
            <a:lvl1pPr algn="l" indent="0" marL="0">
              <a:buNone/>
              <a:defRPr lang="en-US" sz="42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200" dirty="0"/>
          </a:p>
        </p:txBody>
      </p:sp>
      <p:sp>
        <p:nvSpPr>
          <p:cNvPr id="3" name="Text 0"/>
          <p:cNvSpPr/>
          <p:nvPr>
            <p:ph idx="101" type="body" hasCustomPrompt="1"/>
          </p:nvPr>
        </p:nvSpPr>
        <p:spPr>
          <a:xfrm>
            <a:off x="548640" y="2697480"/>
            <a:ext cx="5120640" cy="731520"/>
          </a:xfrm>
          <a:prstGeom prst="rect">
            <a:avLst/>
          </a:prstGeom>
          <a:noFill/>
          <a:ln/>
        </p:spPr>
        <p:txBody>
          <a:bodyPr wrap="square" rtlCol="0"/>
          <a:lstStyle>
            <a:lvl1pPr algn="l" indent="0" marL="0">
              <a:buNone/>
              <a:defRPr lang="en-US" sz="2000" dirty="0">
                <a:solidFill>
                  <a:schemeClr val="accent2"/>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949440" cy="685800"/>
          </a:xfrm>
          <a:prstGeom prst="rect">
            <a:avLst/>
          </a:prstGeom>
          <a:noFill/>
          <a:ln/>
        </p:spPr>
        <p:txBody>
          <a:bodyPr wrap="square" rtlCol="0"/>
          <a:lstStyle>
            <a:lvl1pPr algn="l" indent="0" marL="0">
              <a:buNone/>
              <a:defRPr lang="en-US" sz="32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200" dirty="0"/>
          </a:p>
        </p:txBody>
      </p:sp>
      <p:pic>
        <p:nvPicPr>
          <p:cNvPr id="3" name="Image 0" descr="preencoded.png">    </p:cNvPr>
          <p:cNvPicPr>
            <a:picLocks noChangeAspect="1"/>
          </p:cNvPicPr>
          <p:nvPr/>
        </p:nvPicPr>
        <p:blipFill>
          <a:blip r:embed="rId1"/>
          <a:stretch>
            <a:fillRect/>
          </a:stretch>
        </p:blipFill>
        <p:spPr>
          <a:xfrm>
            <a:off x="7726680" y="201168"/>
            <a:ext cx="1051560" cy="548640"/>
          </a:xfrm>
          <a:prstGeom prst="rect">
            <a:avLst/>
          </a:prstGeom>
        </p:spPr>
      </p:pic>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460"/>
                </a:solidFill>
                <a:latin typeface="Calibri"/>
                <a:ea typeface="Calibri"/>
                <a:cs typeface="Calibri"/>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460"/>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3.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5120640" cy="1371600"/>
          </a:xfrm>
          <a:prstGeom prst="rect">
            <a:avLst/>
          </a:prstGeom>
          <a:noFill/>
          <a:ln/>
        </p:spPr>
        <p:txBody>
          <a:bodyPr wrap="square" lIns="0" tIns="0" rIns="0" bIns="0" rtlCol="0" anchor="b"/>
          <a:lstStyle/>
          <a:p>
            <a:pPr algn="l" indent="0" marL="0">
              <a:buNone/>
            </a:pPr>
            <a:r>
              <a:rPr lang="en-US" sz="4200" b="1" dirty="0">
                <a:solidFill>
                  <a:schemeClr val="bg1"/>
                </a:solidFill>
                <a:latin typeface="Cambria" pitchFamily="34" charset="0"/>
                <a:ea typeface="Cambria" pitchFamily="34" charset="-122"/>
                <a:cs typeface="Cambria" pitchFamily="34" charset="-120"/>
              </a:rPr>
              <a:t>Education in Russia</a:t>
            </a:r>
            <a:endParaRPr lang="en-US" sz="4200" dirty="0"/>
          </a:p>
        </p:txBody>
      </p:sp>
      <p:sp>
        <p:nvSpPr>
          <p:cNvPr id="3" name="Text 0"/>
          <p:cNvSpPr/>
          <p:nvPr>
            <p:ph idx="101" type="body" hasCustomPrompt="1"/>
          </p:nvPr>
        </p:nvSpPr>
        <p:spPr>
          <a:xfrm>
            <a:off x="548640" y="2697480"/>
            <a:ext cx="5120640" cy="731520"/>
          </a:xfrm>
          <a:prstGeom prst="rect">
            <a:avLst/>
          </a:prstGeom>
          <a:noFill/>
          <a:ln/>
        </p:spPr>
        <p:txBody>
          <a:bodyPr wrap="square" lIns="0" tIns="0" rIns="0" bIns="0" rtlCol="0" anchor="t"/>
          <a:lstStyle/>
          <a:p>
            <a:pPr algn="l" indent="0" marL="0">
              <a:buNone/>
            </a:pPr>
            <a:r>
              <a:rPr lang="en-US" sz="2000" dirty="0">
                <a:solidFill>
                  <a:schemeClr val="accent2"/>
                </a:solidFill>
                <a:latin typeface="Calibri" pitchFamily="34" charset="0"/>
                <a:ea typeface="Calibri" pitchFamily="34" charset="-122"/>
                <a:cs typeface="Calibri" pitchFamily="34" charset="-120"/>
              </a:rPr>
              <a:t>How similar is it to England's?</a:t>
            </a:r>
            <a:endParaRPr lang="en-US" sz="2000" dirty="0"/>
          </a:p>
        </p:txBody>
      </p:sp>
      <p:sp>
        <p:nvSpPr>
          <p:cNvPr id="4" name="Text 2"/>
          <p:cNvSpPr txBox="1"/>
          <p:nvPr/>
        </p:nvSpPr>
        <p:spPr>
          <a:xfrm>
            <a:off x="548640" y="3429000"/>
            <a:ext cx="5120640" cy="365760"/>
          </a:xfrm>
          <a:prstGeom prst="rect">
            <a:avLst/>
          </a:prstGeom>
          <a:noFill/>
          <a:ln/>
        </p:spPr>
        <p:txBody>
          <a:bodyPr wrap="square" lIns="0" tIns="0" rIns="0" bIns="0" rtlCol="0" anchor="ctr"/>
          <a:lstStyle/>
          <a:p>
            <a:pPr indent="0" marL="0">
              <a:buNone/>
            </a:pPr>
            <a:r>
              <a:rPr lang="en-US" sz="1400" dirty="0">
                <a:solidFill>
                  <a:schemeClr val="accent3"/>
                </a:solidFill>
                <a:latin typeface="Calibri" pitchFamily="34" charset="0"/>
                <a:ea typeface="Calibri" pitchFamily="34" charset="-122"/>
                <a:cs typeface="Calibri" pitchFamily="34" charset="-120"/>
              </a:rPr>
              <a:t>Portfolio project · Spotlight 5 · Module 1d</a:t>
            </a:r>
            <a:endParaRPr lang="en-US" sz="1400" dirty="0"/>
          </a:p>
        </p:txBody>
      </p:sp>
      <p:sp>
        <p:nvSpPr>
          <p:cNvPr id="5" name="Text 3"/>
          <p:cNvSpPr txBox="1"/>
          <p:nvPr/>
        </p:nvSpPr>
        <p:spPr>
          <a:xfrm>
            <a:off x="548640" y="3977640"/>
            <a:ext cx="5120640" cy="411480"/>
          </a:xfrm>
          <a:prstGeom prst="rect">
            <a:avLst/>
          </a:prstGeom>
          <a:noFill/>
          <a:ln/>
        </p:spPr>
        <p:txBody>
          <a:bodyPr wrap="square" lIns="0" tIns="0" rIns="0" bIns="0" rtlCol="0" anchor="ctr"/>
          <a:lstStyle/>
          <a:p>
            <a:pPr indent="0" marL="0">
              <a:buNone/>
            </a:pPr>
            <a:r>
              <a:rPr lang="en-US" sz="1800" b="1" dirty="0">
                <a:solidFill>
                  <a:schemeClr val="bg1"/>
                </a:solidFill>
                <a:latin typeface="Calibri" pitchFamily="34" charset="0"/>
                <a:ea typeface="Calibri" pitchFamily="34" charset="-122"/>
                <a:cs typeface="Calibri" pitchFamily="34" charset="-120"/>
              </a:rPr>
              <a:t>By: ______________________</a:t>
            </a:r>
            <a:endParaRPr lang="en-US" sz="1800" dirty="0"/>
          </a:p>
        </p:txBody>
      </p:sp>
      <p:sp>
        <p:nvSpPr>
          <p:cNvPr id="6" name="Halo"/>
          <p:cNvSpPr/>
          <p:nvPr/>
        </p:nvSpPr>
        <p:spPr>
          <a:xfrm>
            <a:off x="5989320" y="868680"/>
            <a:ext cx="2743200" cy="2743200"/>
          </a:xfrm>
          <a:prstGeom prst="ellipse">
            <a:avLst/>
          </a:prstGeom>
          <a:solidFill>
            <a:srgbClr val="FFFFFF">
              <a:alpha val="12000"/>
            </a:srgbClr>
          </a:solidFill>
          <a:ln w="12700">
            <a:solidFill>
              <a:srgbClr val="FFFFFF">
                <a:alpha val="0"/>
              </a:srgbClr>
            </a:solidFill>
            <a:prstDash val="solid"/>
          </a:ln>
        </p:spPr>
      </p:sp>
      <p:pic>
        <p:nvPicPr>
          <p:cNvPr id="7" name="School" descr="preencoded.png">    </p:cNvPr>
          <p:cNvPicPr>
            <a:picLocks noChangeAspect="1"/>
          </p:cNvPicPr>
          <p:nvPr/>
        </p:nvPicPr>
        <p:blipFill>
          <a:blip r:embed="rId1"/>
          <a:stretch>
            <a:fillRect/>
          </a:stretch>
        </p:blipFill>
        <p:spPr>
          <a:xfrm>
            <a:off x="6446520" y="1234440"/>
            <a:ext cx="1828800" cy="1828800"/>
          </a:xfrm>
          <a:prstGeom prst="rect">
            <a:avLst/>
          </a:prstGeom>
        </p:spPr>
      </p:pic>
      <p:pic>
        <p:nvPicPr>
          <p:cNvPr id="8" name="Cap" descr="preencoded.png">    </p:cNvPr>
          <p:cNvPicPr>
            <a:picLocks noChangeAspect="1"/>
          </p:cNvPicPr>
          <p:nvPr/>
        </p:nvPicPr>
        <p:blipFill>
          <a:blip r:embed="rId2"/>
          <a:stretch>
            <a:fillRect/>
          </a:stretch>
        </p:blipFill>
        <p:spPr>
          <a:xfrm>
            <a:off x="7635240" y="685800"/>
            <a:ext cx="960120" cy="960120"/>
          </a:xfrm>
          <a:prstGeom prst="rect">
            <a:avLst/>
          </a:prstGeom>
        </p:spPr>
      </p:pic>
      <p:sp>
        <p:nvSpPr>
          <p:cNvPr id="9" name="Flag RU white"/>
          <p:cNvSpPr/>
          <p:nvPr/>
        </p:nvSpPr>
        <p:spPr>
          <a:xfrm>
            <a:off x="6172200" y="3886200"/>
            <a:ext cx="822960" cy="182880"/>
          </a:xfrm>
          <a:prstGeom prst="rect">
            <a:avLst/>
          </a:prstGeom>
          <a:solidFill>
            <a:srgbClr val="FFFFFF"/>
          </a:solidFill>
          <a:ln w="9525">
            <a:solidFill>
              <a:srgbClr val="D9D9D9"/>
            </a:solidFill>
            <a:prstDash val="solid"/>
          </a:ln>
        </p:spPr>
      </p:sp>
      <p:sp>
        <p:nvSpPr>
          <p:cNvPr id="10" name="Flag RU blue"/>
          <p:cNvSpPr/>
          <p:nvPr/>
        </p:nvSpPr>
        <p:spPr>
          <a:xfrm>
            <a:off x="6172200" y="4069080"/>
            <a:ext cx="822960" cy="182880"/>
          </a:xfrm>
          <a:prstGeom prst="rect">
            <a:avLst/>
          </a:prstGeom>
          <a:solidFill>
            <a:srgbClr val="0039A6"/>
          </a:solidFill>
          <a:ln w="12700">
            <a:solidFill>
              <a:srgbClr val="0039A6"/>
            </a:solidFill>
            <a:prstDash val="solid"/>
          </a:ln>
        </p:spPr>
      </p:sp>
      <p:sp>
        <p:nvSpPr>
          <p:cNvPr id="11" name="Flag RU red"/>
          <p:cNvSpPr/>
          <p:nvPr/>
        </p:nvSpPr>
        <p:spPr>
          <a:xfrm>
            <a:off x="6172200" y="4251960"/>
            <a:ext cx="822960" cy="182880"/>
          </a:xfrm>
          <a:prstGeom prst="rect">
            <a:avLst/>
          </a:prstGeom>
          <a:solidFill>
            <a:srgbClr val="D52B1E"/>
          </a:solidFill>
          <a:ln w="12700">
            <a:solidFill>
              <a:srgbClr val="D52B1E"/>
            </a:solidFill>
            <a:prstDash val="solid"/>
          </a:ln>
        </p:spPr>
      </p:sp>
      <p:sp>
        <p:nvSpPr>
          <p:cNvPr id="12" name="Flag EN field"/>
          <p:cNvSpPr/>
          <p:nvPr/>
        </p:nvSpPr>
        <p:spPr>
          <a:xfrm>
            <a:off x="7178040" y="3913632"/>
            <a:ext cx="822960" cy="493776"/>
          </a:xfrm>
          <a:prstGeom prst="rect">
            <a:avLst/>
          </a:prstGeom>
          <a:solidFill>
            <a:srgbClr val="FFFFFF"/>
          </a:solidFill>
          <a:ln w="9525">
            <a:solidFill>
              <a:srgbClr val="D9D9D9"/>
            </a:solidFill>
            <a:prstDash val="solid"/>
          </a:ln>
        </p:spPr>
      </p:sp>
      <p:sp>
        <p:nvSpPr>
          <p:cNvPr id="13" name="Flag EN bar"/>
          <p:cNvSpPr/>
          <p:nvPr/>
        </p:nvSpPr>
        <p:spPr>
          <a:xfrm>
            <a:off x="7178040" y="4111142"/>
            <a:ext cx="822960" cy="98755"/>
          </a:xfrm>
          <a:prstGeom prst="rect">
            <a:avLst/>
          </a:prstGeom>
          <a:solidFill>
            <a:srgbClr val="CE1124"/>
          </a:solidFill>
          <a:ln w="12700">
            <a:solidFill>
              <a:srgbClr val="CE1124"/>
            </a:solidFill>
            <a:prstDash val="solid"/>
          </a:ln>
        </p:spPr>
      </p:sp>
      <p:sp>
        <p:nvSpPr>
          <p:cNvPr id="14" name="Flag EN post"/>
          <p:cNvSpPr/>
          <p:nvPr/>
        </p:nvSpPr>
        <p:spPr>
          <a:xfrm>
            <a:off x="7540142" y="3913632"/>
            <a:ext cx="98755" cy="493776"/>
          </a:xfrm>
          <a:prstGeom prst="rect">
            <a:avLst/>
          </a:prstGeom>
          <a:solidFill>
            <a:srgbClr val="CE1124"/>
          </a:solidFill>
          <a:ln w="12700">
            <a:solidFill>
              <a:srgbClr val="CE1124"/>
            </a:solidFill>
            <a:prstDash val="solid"/>
          </a:ln>
        </p:spPr>
      </p:sp>
      <p:sp>
        <p:nvSpPr>
          <p:cNvPr id="15" name="Logo badge"/>
          <p:cNvSpPr/>
          <p:nvPr/>
        </p:nvSpPr>
        <p:spPr>
          <a:xfrm>
            <a:off x="457200" y="274320"/>
            <a:ext cx="1463040" cy="777240"/>
          </a:xfrm>
          <a:prstGeom prst="roundRect">
            <a:avLst>
              <a:gd name="adj" fmla="val 14118"/>
            </a:avLst>
          </a:prstGeom>
          <a:solidFill>
            <a:srgbClr val="FFFFFF"/>
          </a:solidFill>
          <a:ln w="12700">
            <a:solidFill>
              <a:srgbClr val="FFFFFF"/>
            </a:solidFill>
            <a:prstDash val="solid"/>
          </a:ln>
        </p:spPr>
      </p:sp>
      <p:pic>
        <p:nvPicPr>
          <p:cNvPr id="16" name="Logo" descr="preencoded.png">    </p:cNvPr>
          <p:cNvPicPr>
            <a:picLocks noChangeAspect="1"/>
          </p:cNvPicPr>
          <p:nvPr/>
        </p:nvPicPr>
        <p:blipFill>
          <a:blip r:embed="rId3"/>
          <a:stretch>
            <a:fillRect/>
          </a:stretch>
        </p:blipFill>
        <p:spPr>
          <a:xfrm>
            <a:off x="548640" y="329184"/>
            <a:ext cx="1280160" cy="66751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949440" cy="68580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Schools in England</a:t>
            </a:r>
            <a:endParaRPr lang="en-US" sz="3200" dirty="0"/>
          </a:p>
        </p:txBody>
      </p:sp>
      <p:sp>
        <p:nvSpPr>
          <p:cNvPr id="3" name="Flag EN field"/>
          <p:cNvSpPr/>
          <p:nvPr/>
        </p:nvSpPr>
        <p:spPr>
          <a:xfrm>
            <a:off x="457200" y="1097280"/>
            <a:ext cx="548640" cy="329184"/>
          </a:xfrm>
          <a:prstGeom prst="rect">
            <a:avLst/>
          </a:prstGeom>
          <a:solidFill>
            <a:srgbClr val="FFFFFF"/>
          </a:solidFill>
          <a:ln w="9525">
            <a:solidFill>
              <a:srgbClr val="D9D9D9"/>
            </a:solidFill>
            <a:prstDash val="solid"/>
          </a:ln>
        </p:spPr>
      </p:sp>
      <p:sp>
        <p:nvSpPr>
          <p:cNvPr id="4" name="Flag EN bar"/>
          <p:cNvSpPr/>
          <p:nvPr/>
        </p:nvSpPr>
        <p:spPr>
          <a:xfrm>
            <a:off x="457200" y="1228954"/>
            <a:ext cx="548640" cy="65837"/>
          </a:xfrm>
          <a:prstGeom prst="rect">
            <a:avLst/>
          </a:prstGeom>
          <a:solidFill>
            <a:srgbClr val="CE1124"/>
          </a:solidFill>
          <a:ln w="12700">
            <a:solidFill>
              <a:srgbClr val="CE1124"/>
            </a:solidFill>
            <a:prstDash val="solid"/>
          </a:ln>
        </p:spPr>
      </p:sp>
      <p:sp>
        <p:nvSpPr>
          <p:cNvPr id="5" name="Flag EN post"/>
          <p:cNvSpPr/>
          <p:nvPr/>
        </p:nvSpPr>
        <p:spPr>
          <a:xfrm>
            <a:off x="698602" y="1097280"/>
            <a:ext cx="65837" cy="329184"/>
          </a:xfrm>
          <a:prstGeom prst="rect">
            <a:avLst/>
          </a:prstGeom>
          <a:solidFill>
            <a:srgbClr val="CE1124"/>
          </a:solidFill>
          <a:ln w="12700">
            <a:solidFill>
              <a:srgbClr val="CE1124"/>
            </a:solidFill>
            <a:prstDash val="solid"/>
          </a:ln>
        </p:spPr>
      </p:sp>
      <p:sp>
        <p:nvSpPr>
          <p:cNvPr id="6" name="Stage Primary School"/>
          <p:cNvSpPr/>
          <p:nvPr/>
        </p:nvSpPr>
        <p:spPr>
          <a:xfrm>
            <a:off x="457200" y="1691640"/>
            <a:ext cx="1865376" cy="2240280"/>
          </a:xfrm>
          <a:prstGeom prst="roundRect">
            <a:avLst>
              <a:gd name="adj" fmla="val 7353"/>
            </a:avLst>
          </a:prstGeom>
          <a:solidFill>
            <a:srgbClr val="FFFFFF"/>
          </a:solidFill>
          <a:ln w="12700">
            <a:solidFill>
              <a:srgbClr val="FFFFFF"/>
            </a:solidFill>
            <a:prstDash val="solid"/>
          </a:ln>
          <a:effectLst>
            <a:outerShdw sx="100000" sy="100000" kx="0" ky="0" algn="bl" rotWithShape="0" blurRad="101600" dist="50800" dir="5400000">
              <a:srgbClr val="3B2A1F">
                <a:alpha val="12000"/>
              </a:srgbClr>
            </a:outerShdw>
          </a:effectLst>
        </p:spPr>
      </p:sp>
      <p:sp>
        <p:nvSpPr>
          <p:cNvPr id="7" name="Circle Primary School"/>
          <p:cNvSpPr/>
          <p:nvPr/>
        </p:nvSpPr>
        <p:spPr>
          <a:xfrm>
            <a:off x="909828" y="1856232"/>
            <a:ext cx="960120" cy="960120"/>
          </a:xfrm>
          <a:prstGeom prst="ellipse">
            <a:avLst/>
          </a:prstGeom>
          <a:solidFill>
            <a:srgbClr val="F7B84B"/>
          </a:solidFill>
          <a:ln w="12700">
            <a:solidFill>
              <a:srgbClr val="F7B84B"/>
            </a:solidFill>
            <a:prstDash val="solid"/>
          </a:ln>
        </p:spPr>
      </p:sp>
      <p:pic>
        <p:nvPicPr>
          <p:cNvPr id="8" name="Icon Primary School" descr="preencoded.png">    </p:cNvPr>
          <p:cNvPicPr>
            <a:picLocks noChangeAspect="1"/>
          </p:cNvPicPr>
          <p:nvPr/>
        </p:nvPicPr>
        <p:blipFill>
          <a:blip r:embed="rId1"/>
          <a:stretch>
            <a:fillRect/>
          </a:stretch>
        </p:blipFill>
        <p:spPr>
          <a:xfrm>
            <a:off x="1024128" y="1965960"/>
            <a:ext cx="731520" cy="731520"/>
          </a:xfrm>
          <a:prstGeom prst="rect">
            <a:avLst/>
          </a:prstGeom>
        </p:spPr>
      </p:pic>
      <p:sp>
        <p:nvSpPr>
          <p:cNvPr id="9" name="Text 6"/>
          <p:cNvSpPr txBox="1"/>
          <p:nvPr/>
        </p:nvSpPr>
        <p:spPr>
          <a:xfrm>
            <a:off x="530352" y="2926080"/>
            <a:ext cx="1719072" cy="548640"/>
          </a:xfrm>
          <a:prstGeom prst="rect">
            <a:avLst/>
          </a:prstGeom>
          <a:noFill/>
          <a:ln/>
        </p:spPr>
        <p:txBody>
          <a:bodyPr wrap="square" lIns="0" tIns="0" rIns="0" bIns="0" rtlCol="0" anchor="ctr"/>
          <a:lstStyle/>
          <a:p>
            <a:pPr algn="ctr" indent="0" marL="0">
              <a:buNone/>
            </a:pPr>
            <a:r>
              <a:rPr lang="en-US" sz="1500" b="1" dirty="0">
                <a:solidFill>
                  <a:schemeClr val="tx1"/>
                </a:solidFill>
                <a:latin typeface="Cambria" pitchFamily="34" charset="0"/>
                <a:ea typeface="Cambria" pitchFamily="34" charset="-122"/>
                <a:cs typeface="Cambria" pitchFamily="34" charset="-120"/>
              </a:rPr>
              <a:t>Primary School</a:t>
            </a:r>
            <a:endParaRPr lang="en-US" sz="1500" dirty="0"/>
          </a:p>
        </p:txBody>
      </p:sp>
      <p:sp>
        <p:nvSpPr>
          <p:cNvPr id="10" name="Text 7"/>
          <p:cNvSpPr txBox="1"/>
          <p:nvPr/>
        </p:nvSpPr>
        <p:spPr>
          <a:xfrm>
            <a:off x="530352" y="3493008"/>
            <a:ext cx="1719072" cy="320040"/>
          </a:xfrm>
          <a:prstGeom prst="rect">
            <a:avLst/>
          </a:prstGeom>
          <a:noFill/>
          <a:ln/>
        </p:spPr>
        <p:txBody>
          <a:bodyPr wrap="square" lIns="0" tIns="0" rIns="0" bIns="0" rtlCol="0" anchor="ctr"/>
          <a:lstStyle/>
          <a:p>
            <a:pPr algn="ctr" indent="0" marL="0">
              <a:buNone/>
            </a:pPr>
            <a:r>
              <a:rPr lang="en-US" sz="1400" b="1" dirty="0">
                <a:solidFill>
                  <a:schemeClr val="accent6"/>
                </a:solidFill>
                <a:latin typeface="Calibri" pitchFamily="34" charset="0"/>
                <a:ea typeface="Calibri" pitchFamily="34" charset="-122"/>
                <a:cs typeface="Calibri" pitchFamily="34" charset="-120"/>
              </a:rPr>
              <a:t>5 – 11 years old</a:t>
            </a:r>
            <a:endParaRPr lang="en-US" sz="1400" dirty="0"/>
          </a:p>
        </p:txBody>
      </p:sp>
      <p:sp>
        <p:nvSpPr>
          <p:cNvPr id="11" name="Arrow 0"/>
          <p:cNvSpPr/>
          <p:nvPr/>
        </p:nvSpPr>
        <p:spPr>
          <a:xfrm>
            <a:off x="2350008" y="2240280"/>
            <a:ext cx="201168" cy="219456"/>
          </a:xfrm>
          <a:prstGeom prst="rightArrow">
            <a:avLst/>
          </a:prstGeom>
          <a:solidFill>
            <a:srgbClr val="A9A6EE"/>
          </a:solidFill>
          <a:ln w="12700">
            <a:solidFill>
              <a:srgbClr val="A9A6EE"/>
            </a:solidFill>
            <a:prstDash val="solid"/>
          </a:ln>
        </p:spPr>
      </p:sp>
      <p:sp>
        <p:nvSpPr>
          <p:cNvPr id="12" name="Stage Secondary School"/>
          <p:cNvSpPr/>
          <p:nvPr/>
        </p:nvSpPr>
        <p:spPr>
          <a:xfrm>
            <a:off x="2578608" y="1691640"/>
            <a:ext cx="1865376" cy="2240280"/>
          </a:xfrm>
          <a:prstGeom prst="roundRect">
            <a:avLst>
              <a:gd name="adj" fmla="val 7353"/>
            </a:avLst>
          </a:prstGeom>
          <a:solidFill>
            <a:srgbClr val="FFFFFF"/>
          </a:solidFill>
          <a:ln w="12700">
            <a:solidFill>
              <a:srgbClr val="FFFFFF"/>
            </a:solidFill>
            <a:prstDash val="solid"/>
          </a:ln>
          <a:effectLst>
            <a:outerShdw sx="100000" sy="100000" kx="0" ky="0" algn="bl" rotWithShape="0" blurRad="101600" dist="50800" dir="5400000">
              <a:srgbClr val="3B2A1F">
                <a:alpha val="12000"/>
              </a:srgbClr>
            </a:outerShdw>
          </a:effectLst>
        </p:spPr>
      </p:sp>
      <p:sp>
        <p:nvSpPr>
          <p:cNvPr id="13" name="Circle Secondary School"/>
          <p:cNvSpPr/>
          <p:nvPr/>
        </p:nvSpPr>
        <p:spPr>
          <a:xfrm>
            <a:off x="3031236" y="1856232"/>
            <a:ext cx="960120" cy="960120"/>
          </a:xfrm>
          <a:prstGeom prst="ellipse">
            <a:avLst/>
          </a:prstGeom>
          <a:solidFill>
            <a:srgbClr val="86D3B5"/>
          </a:solidFill>
          <a:ln w="12700">
            <a:solidFill>
              <a:srgbClr val="86D3B5"/>
            </a:solidFill>
            <a:prstDash val="solid"/>
          </a:ln>
        </p:spPr>
      </p:sp>
      <p:pic>
        <p:nvPicPr>
          <p:cNvPr id="14" name="Icon Secondary School" descr="preencoded.png">    </p:cNvPr>
          <p:cNvPicPr>
            <a:picLocks noChangeAspect="1"/>
          </p:cNvPicPr>
          <p:nvPr/>
        </p:nvPicPr>
        <p:blipFill>
          <a:blip r:embed="rId2"/>
          <a:stretch>
            <a:fillRect/>
          </a:stretch>
        </p:blipFill>
        <p:spPr>
          <a:xfrm>
            <a:off x="3145536" y="1965960"/>
            <a:ext cx="731520" cy="731520"/>
          </a:xfrm>
          <a:prstGeom prst="rect">
            <a:avLst/>
          </a:prstGeom>
        </p:spPr>
      </p:pic>
      <p:sp>
        <p:nvSpPr>
          <p:cNvPr id="15" name="Text 11"/>
          <p:cNvSpPr txBox="1"/>
          <p:nvPr/>
        </p:nvSpPr>
        <p:spPr>
          <a:xfrm>
            <a:off x="2651760" y="2926080"/>
            <a:ext cx="1719072" cy="548640"/>
          </a:xfrm>
          <a:prstGeom prst="rect">
            <a:avLst/>
          </a:prstGeom>
          <a:noFill/>
          <a:ln/>
        </p:spPr>
        <p:txBody>
          <a:bodyPr wrap="square" lIns="0" tIns="0" rIns="0" bIns="0" rtlCol="0" anchor="ctr"/>
          <a:lstStyle/>
          <a:p>
            <a:pPr algn="ctr" indent="0" marL="0">
              <a:buNone/>
            </a:pPr>
            <a:r>
              <a:rPr lang="en-US" sz="1500" b="1" dirty="0">
                <a:solidFill>
                  <a:schemeClr val="tx1"/>
                </a:solidFill>
                <a:latin typeface="Cambria" pitchFamily="34" charset="0"/>
                <a:ea typeface="Cambria" pitchFamily="34" charset="-122"/>
                <a:cs typeface="Cambria" pitchFamily="34" charset="-120"/>
              </a:rPr>
              <a:t>Secondary School</a:t>
            </a:r>
            <a:endParaRPr lang="en-US" sz="1500" dirty="0"/>
          </a:p>
        </p:txBody>
      </p:sp>
      <p:sp>
        <p:nvSpPr>
          <p:cNvPr id="16" name="Text 12"/>
          <p:cNvSpPr txBox="1"/>
          <p:nvPr/>
        </p:nvSpPr>
        <p:spPr>
          <a:xfrm>
            <a:off x="2651760" y="3493008"/>
            <a:ext cx="1719072" cy="320040"/>
          </a:xfrm>
          <a:prstGeom prst="rect">
            <a:avLst/>
          </a:prstGeom>
          <a:noFill/>
          <a:ln/>
        </p:spPr>
        <p:txBody>
          <a:bodyPr wrap="square" lIns="0" tIns="0" rIns="0" bIns="0" rtlCol="0" anchor="ctr"/>
          <a:lstStyle/>
          <a:p>
            <a:pPr algn="ctr" indent="0" marL="0">
              <a:buNone/>
            </a:pPr>
            <a:r>
              <a:rPr lang="en-US" sz="1400" b="1" dirty="0">
                <a:solidFill>
                  <a:schemeClr val="accent6"/>
                </a:solidFill>
                <a:latin typeface="Calibri" pitchFamily="34" charset="0"/>
                <a:ea typeface="Calibri" pitchFamily="34" charset="-122"/>
                <a:cs typeface="Calibri" pitchFamily="34" charset="-120"/>
              </a:rPr>
              <a:t>11 – 16 years old</a:t>
            </a:r>
            <a:endParaRPr lang="en-US" sz="1400" dirty="0"/>
          </a:p>
        </p:txBody>
      </p:sp>
      <p:sp>
        <p:nvSpPr>
          <p:cNvPr id="17" name="Arrow 1"/>
          <p:cNvSpPr/>
          <p:nvPr/>
        </p:nvSpPr>
        <p:spPr>
          <a:xfrm>
            <a:off x="4471416" y="2240280"/>
            <a:ext cx="201168" cy="219456"/>
          </a:xfrm>
          <a:prstGeom prst="rightArrow">
            <a:avLst/>
          </a:prstGeom>
          <a:solidFill>
            <a:srgbClr val="A9A6EE"/>
          </a:solidFill>
          <a:ln w="12700">
            <a:solidFill>
              <a:srgbClr val="A9A6EE"/>
            </a:solidFill>
            <a:prstDash val="solid"/>
          </a:ln>
        </p:spPr>
      </p:sp>
      <p:sp>
        <p:nvSpPr>
          <p:cNvPr id="18" name="Stage Sixth Form College"/>
          <p:cNvSpPr/>
          <p:nvPr/>
        </p:nvSpPr>
        <p:spPr>
          <a:xfrm>
            <a:off x="4700016" y="1691640"/>
            <a:ext cx="1865376" cy="2240280"/>
          </a:xfrm>
          <a:prstGeom prst="roundRect">
            <a:avLst>
              <a:gd name="adj" fmla="val 7353"/>
            </a:avLst>
          </a:prstGeom>
          <a:solidFill>
            <a:srgbClr val="FFFFFF"/>
          </a:solidFill>
          <a:ln w="12700">
            <a:solidFill>
              <a:srgbClr val="FFFFFF"/>
            </a:solidFill>
            <a:prstDash val="solid"/>
          </a:ln>
          <a:effectLst>
            <a:outerShdw sx="100000" sy="100000" kx="0" ky="0" algn="bl" rotWithShape="0" blurRad="101600" dist="50800" dir="5400000">
              <a:srgbClr val="3B2A1F">
                <a:alpha val="12000"/>
              </a:srgbClr>
            </a:outerShdw>
          </a:effectLst>
        </p:spPr>
      </p:sp>
      <p:sp>
        <p:nvSpPr>
          <p:cNvPr id="19" name="Circle Sixth Form College"/>
          <p:cNvSpPr/>
          <p:nvPr/>
        </p:nvSpPr>
        <p:spPr>
          <a:xfrm>
            <a:off x="5152644" y="1856232"/>
            <a:ext cx="960120" cy="960120"/>
          </a:xfrm>
          <a:prstGeom prst="ellipse">
            <a:avLst/>
          </a:prstGeom>
          <a:solidFill>
            <a:srgbClr val="A9A6EE"/>
          </a:solidFill>
          <a:ln w="12700">
            <a:solidFill>
              <a:srgbClr val="A9A6EE"/>
            </a:solidFill>
            <a:prstDash val="solid"/>
          </a:ln>
        </p:spPr>
      </p:sp>
      <p:pic>
        <p:nvPicPr>
          <p:cNvPr id="20" name="Icon Sixth Form College" descr="preencoded.png">    </p:cNvPr>
          <p:cNvPicPr>
            <a:picLocks noChangeAspect="1"/>
          </p:cNvPicPr>
          <p:nvPr/>
        </p:nvPicPr>
        <p:blipFill>
          <a:blip r:embed="rId3"/>
          <a:stretch>
            <a:fillRect/>
          </a:stretch>
        </p:blipFill>
        <p:spPr>
          <a:xfrm>
            <a:off x="5266944" y="1965960"/>
            <a:ext cx="731520" cy="731520"/>
          </a:xfrm>
          <a:prstGeom prst="rect">
            <a:avLst/>
          </a:prstGeom>
        </p:spPr>
      </p:pic>
      <p:sp>
        <p:nvSpPr>
          <p:cNvPr id="21" name="Text 16"/>
          <p:cNvSpPr txBox="1"/>
          <p:nvPr/>
        </p:nvSpPr>
        <p:spPr>
          <a:xfrm>
            <a:off x="4773168" y="2926080"/>
            <a:ext cx="1719072" cy="548640"/>
          </a:xfrm>
          <a:prstGeom prst="rect">
            <a:avLst/>
          </a:prstGeom>
          <a:noFill/>
          <a:ln/>
        </p:spPr>
        <p:txBody>
          <a:bodyPr wrap="square" lIns="0" tIns="0" rIns="0" bIns="0" rtlCol="0" anchor="ctr"/>
          <a:lstStyle/>
          <a:p>
            <a:pPr algn="ctr" indent="0" marL="0">
              <a:buNone/>
            </a:pPr>
            <a:r>
              <a:rPr lang="en-US" sz="1500" b="1" dirty="0">
                <a:solidFill>
                  <a:schemeClr val="tx1"/>
                </a:solidFill>
                <a:latin typeface="Cambria" pitchFamily="34" charset="0"/>
                <a:ea typeface="Cambria" pitchFamily="34" charset="-122"/>
                <a:cs typeface="Cambria" pitchFamily="34" charset="-120"/>
              </a:rPr>
              <a:t>Sixth Form College</a:t>
            </a:r>
            <a:endParaRPr lang="en-US" sz="1500" dirty="0"/>
          </a:p>
        </p:txBody>
      </p:sp>
      <p:sp>
        <p:nvSpPr>
          <p:cNvPr id="22" name="Text 17"/>
          <p:cNvSpPr txBox="1"/>
          <p:nvPr/>
        </p:nvSpPr>
        <p:spPr>
          <a:xfrm>
            <a:off x="4773168" y="3493008"/>
            <a:ext cx="1719072" cy="320040"/>
          </a:xfrm>
          <a:prstGeom prst="rect">
            <a:avLst/>
          </a:prstGeom>
          <a:noFill/>
          <a:ln/>
        </p:spPr>
        <p:txBody>
          <a:bodyPr wrap="square" lIns="0" tIns="0" rIns="0" bIns="0" rtlCol="0" anchor="ctr"/>
          <a:lstStyle/>
          <a:p>
            <a:pPr algn="ctr" indent="0" marL="0">
              <a:buNone/>
            </a:pPr>
            <a:r>
              <a:rPr lang="en-US" sz="1400" b="1" dirty="0">
                <a:solidFill>
                  <a:schemeClr val="accent6"/>
                </a:solidFill>
                <a:latin typeface="Calibri" pitchFamily="34" charset="0"/>
                <a:ea typeface="Calibri" pitchFamily="34" charset="-122"/>
                <a:cs typeface="Calibri" pitchFamily="34" charset="-120"/>
              </a:rPr>
              <a:t>16 – 18 years old</a:t>
            </a:r>
            <a:endParaRPr lang="en-US" sz="1400" dirty="0"/>
          </a:p>
        </p:txBody>
      </p:sp>
      <p:sp>
        <p:nvSpPr>
          <p:cNvPr id="23" name="Arrow 2"/>
          <p:cNvSpPr/>
          <p:nvPr/>
        </p:nvSpPr>
        <p:spPr>
          <a:xfrm>
            <a:off x="6592824" y="2240280"/>
            <a:ext cx="201168" cy="219456"/>
          </a:xfrm>
          <a:prstGeom prst="rightArrow">
            <a:avLst/>
          </a:prstGeom>
          <a:solidFill>
            <a:srgbClr val="A9A6EE"/>
          </a:solidFill>
          <a:ln w="12700">
            <a:solidFill>
              <a:srgbClr val="A9A6EE"/>
            </a:solidFill>
            <a:prstDash val="solid"/>
          </a:ln>
        </p:spPr>
      </p:sp>
      <p:sp>
        <p:nvSpPr>
          <p:cNvPr id="24" name="Stage University"/>
          <p:cNvSpPr/>
          <p:nvPr/>
        </p:nvSpPr>
        <p:spPr>
          <a:xfrm>
            <a:off x="6821424" y="1691640"/>
            <a:ext cx="1865376" cy="2240280"/>
          </a:xfrm>
          <a:prstGeom prst="roundRect">
            <a:avLst>
              <a:gd name="adj" fmla="val 7353"/>
            </a:avLst>
          </a:prstGeom>
          <a:solidFill>
            <a:srgbClr val="FFFFFF"/>
          </a:solidFill>
          <a:ln w="12700">
            <a:solidFill>
              <a:srgbClr val="FFFFFF"/>
            </a:solidFill>
            <a:prstDash val="solid"/>
          </a:ln>
          <a:effectLst>
            <a:outerShdw sx="100000" sy="100000" kx="0" ky="0" algn="bl" rotWithShape="0" blurRad="101600" dist="50800" dir="5400000">
              <a:srgbClr val="3B2A1F">
                <a:alpha val="12000"/>
              </a:srgbClr>
            </a:outerShdw>
          </a:effectLst>
        </p:spPr>
      </p:sp>
      <p:sp>
        <p:nvSpPr>
          <p:cNvPr id="25" name="Circle University"/>
          <p:cNvSpPr/>
          <p:nvPr/>
        </p:nvSpPr>
        <p:spPr>
          <a:xfrm>
            <a:off x="7274052" y="1856232"/>
            <a:ext cx="960120" cy="960120"/>
          </a:xfrm>
          <a:prstGeom prst="ellipse">
            <a:avLst/>
          </a:prstGeom>
          <a:solidFill>
            <a:srgbClr val="F4776A"/>
          </a:solidFill>
          <a:ln w="12700">
            <a:solidFill>
              <a:srgbClr val="F4776A"/>
            </a:solidFill>
            <a:prstDash val="solid"/>
          </a:ln>
        </p:spPr>
      </p:sp>
      <p:pic>
        <p:nvPicPr>
          <p:cNvPr id="26" name="Icon University" descr="preencoded.png">    </p:cNvPr>
          <p:cNvPicPr>
            <a:picLocks noChangeAspect="1"/>
          </p:cNvPicPr>
          <p:nvPr/>
        </p:nvPicPr>
        <p:blipFill>
          <a:blip r:embed="rId4"/>
          <a:stretch>
            <a:fillRect/>
          </a:stretch>
        </p:blipFill>
        <p:spPr>
          <a:xfrm>
            <a:off x="7388352" y="1965960"/>
            <a:ext cx="731520" cy="731520"/>
          </a:xfrm>
          <a:prstGeom prst="rect">
            <a:avLst/>
          </a:prstGeom>
        </p:spPr>
      </p:pic>
      <p:sp>
        <p:nvSpPr>
          <p:cNvPr id="27" name="Text 21"/>
          <p:cNvSpPr txBox="1"/>
          <p:nvPr/>
        </p:nvSpPr>
        <p:spPr>
          <a:xfrm>
            <a:off x="6894576" y="2926080"/>
            <a:ext cx="1719072" cy="548640"/>
          </a:xfrm>
          <a:prstGeom prst="rect">
            <a:avLst/>
          </a:prstGeom>
          <a:noFill/>
          <a:ln/>
        </p:spPr>
        <p:txBody>
          <a:bodyPr wrap="square" lIns="0" tIns="0" rIns="0" bIns="0" rtlCol="0" anchor="ctr"/>
          <a:lstStyle/>
          <a:p>
            <a:pPr algn="ctr" indent="0" marL="0">
              <a:buNone/>
            </a:pPr>
            <a:r>
              <a:rPr lang="en-US" sz="1500" b="1" dirty="0">
                <a:solidFill>
                  <a:schemeClr val="tx1"/>
                </a:solidFill>
                <a:latin typeface="Cambria" pitchFamily="34" charset="0"/>
                <a:ea typeface="Cambria" pitchFamily="34" charset="-122"/>
                <a:cs typeface="Cambria" pitchFamily="34" charset="-120"/>
              </a:rPr>
              <a:t>University</a:t>
            </a:r>
            <a:endParaRPr lang="en-US" sz="1500" dirty="0"/>
          </a:p>
        </p:txBody>
      </p:sp>
      <p:sp>
        <p:nvSpPr>
          <p:cNvPr id="28" name="Text 22"/>
          <p:cNvSpPr txBox="1"/>
          <p:nvPr/>
        </p:nvSpPr>
        <p:spPr>
          <a:xfrm>
            <a:off x="6894576" y="3493008"/>
            <a:ext cx="1719072" cy="320040"/>
          </a:xfrm>
          <a:prstGeom prst="rect">
            <a:avLst/>
          </a:prstGeom>
          <a:noFill/>
          <a:ln/>
        </p:spPr>
        <p:txBody>
          <a:bodyPr wrap="square" lIns="0" tIns="0" rIns="0" bIns="0" rtlCol="0" anchor="ctr"/>
          <a:lstStyle/>
          <a:p>
            <a:pPr algn="ctr" indent="0" marL="0">
              <a:buNone/>
            </a:pPr>
            <a:r>
              <a:rPr lang="en-US" sz="1400" b="1" dirty="0">
                <a:solidFill>
                  <a:schemeClr val="accent6"/>
                </a:solidFill>
                <a:latin typeface="Calibri" pitchFamily="34" charset="0"/>
                <a:ea typeface="Calibri" pitchFamily="34" charset="-122"/>
                <a:cs typeface="Calibri" pitchFamily="34" charset="-120"/>
              </a:rPr>
              <a:t>18+ years old</a:t>
            </a:r>
            <a:endParaRPr lang="en-US" sz="1400" dirty="0"/>
          </a:p>
        </p:txBody>
      </p:sp>
      <p:sp>
        <p:nvSpPr>
          <p:cNvPr id="29" name="Text 23"/>
          <p:cNvSpPr txBox="1"/>
          <p:nvPr/>
        </p:nvSpPr>
        <p:spPr>
          <a:xfrm>
            <a:off x="1143000" y="1097280"/>
            <a:ext cx="6858000" cy="384048"/>
          </a:xfrm>
          <a:prstGeom prst="rect">
            <a:avLst/>
          </a:prstGeom>
          <a:noFill/>
          <a:ln/>
        </p:spPr>
        <p:txBody>
          <a:bodyPr wrap="square" lIns="0" tIns="0" rIns="0" bIns="0" rtlCol="0" anchor="ctr"/>
          <a:lstStyle/>
          <a:p>
            <a:pPr indent="0" marL="0">
              <a:buNone/>
            </a:pPr>
            <a:r>
              <a:rPr lang="en-US" sz="1500" i="1" dirty="0">
                <a:solidFill>
                  <a:schemeClr val="tx2"/>
                </a:solidFill>
                <a:latin typeface="Calibri" pitchFamily="34" charset="0"/>
                <a:ea typeface="Calibri" pitchFamily="34" charset="-122"/>
                <a:cs typeface="Calibri" pitchFamily="34" charset="-120"/>
              </a:rPr>
              <a:t>In England, children start school at 5.</a:t>
            </a:r>
            <a:endParaRPr lang="en-US" sz="1500" dirty="0"/>
          </a:p>
        </p:txBody>
      </p:sp>
      <p:sp>
        <p:nvSpPr>
          <p:cNvPr id="31" name="Example card"/>
          <p:cNvSpPr/>
          <p:nvPr/>
        </p:nvSpPr>
        <p:spPr>
          <a:xfrm>
            <a:off x="457200" y="4160520"/>
            <a:ext cx="8229600" cy="548640"/>
          </a:xfrm>
          <a:prstGeom prst="roundRect">
            <a:avLst>
              <a:gd name="adj" fmla="val 25000"/>
            </a:avLst>
          </a:prstGeom>
          <a:solidFill>
            <a:srgbClr val="EFEEFC"/>
          </a:solidFill>
          <a:ln w="12700">
            <a:solidFill>
              <a:srgbClr val="EFEEFC"/>
            </a:solidFill>
            <a:prstDash val="solid"/>
          </a:ln>
          <a:effectLst>
            <a:outerShdw sx="100000" sy="100000" kx="0" ky="0" algn="bl" rotWithShape="0" blurRad="101600" dist="50800" dir="5400000">
              <a:srgbClr val="3B2A1F">
                <a:alpha val="12000"/>
              </a:srgbClr>
            </a:outerShdw>
          </a:effectLst>
        </p:spPr>
      </p:sp>
      <p:sp>
        <p:nvSpPr>
          <p:cNvPr id="32" name="Text 25"/>
          <p:cNvSpPr txBox="1"/>
          <p:nvPr/>
        </p:nvSpPr>
        <p:spPr>
          <a:xfrm>
            <a:off x="685800" y="4160520"/>
            <a:ext cx="7863840" cy="54864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Example: </a:t>
            </a:r>
            <a:pPr indent="0" marL="0">
              <a:buNone/>
            </a:pPr>
            <a:r>
              <a:rPr lang="en-US" sz="1600" dirty="0">
                <a:solidFill>
                  <a:schemeClr val="tx1"/>
                </a:solidFill>
                <a:latin typeface="Calibri" pitchFamily="34" charset="0"/>
                <a:ea typeface="Calibri" pitchFamily="34" charset="-122"/>
                <a:cs typeface="Calibri" pitchFamily="34" charset="-120"/>
              </a:rPr>
              <a:t>Her name is Fiona. She's 13 years old. She's at secondary school.</a:t>
            </a:r>
            <a:endParaRPr lang="en-US" sz="16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460"/>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949440" cy="68580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Education in Russia</a:t>
            </a:r>
            <a:endParaRPr lang="en-US" sz="3200" dirty="0"/>
          </a:p>
        </p:txBody>
      </p:sp>
      <p:sp>
        <p:nvSpPr>
          <p:cNvPr id="3" name="Flag RU white"/>
          <p:cNvSpPr/>
          <p:nvPr/>
        </p:nvSpPr>
        <p:spPr>
          <a:xfrm>
            <a:off x="457200" y="1097280"/>
            <a:ext cx="548640" cy="121920"/>
          </a:xfrm>
          <a:prstGeom prst="rect">
            <a:avLst/>
          </a:prstGeom>
          <a:solidFill>
            <a:srgbClr val="FFFFFF"/>
          </a:solidFill>
          <a:ln w="9525">
            <a:solidFill>
              <a:srgbClr val="D9D9D9"/>
            </a:solidFill>
            <a:prstDash val="solid"/>
          </a:ln>
        </p:spPr>
      </p:sp>
      <p:sp>
        <p:nvSpPr>
          <p:cNvPr id="4" name="Flag RU blue"/>
          <p:cNvSpPr/>
          <p:nvPr/>
        </p:nvSpPr>
        <p:spPr>
          <a:xfrm>
            <a:off x="457200" y="1219200"/>
            <a:ext cx="548640" cy="121920"/>
          </a:xfrm>
          <a:prstGeom prst="rect">
            <a:avLst/>
          </a:prstGeom>
          <a:solidFill>
            <a:srgbClr val="0039A6"/>
          </a:solidFill>
          <a:ln w="12700">
            <a:solidFill>
              <a:srgbClr val="0039A6"/>
            </a:solidFill>
            <a:prstDash val="solid"/>
          </a:ln>
        </p:spPr>
      </p:sp>
      <p:sp>
        <p:nvSpPr>
          <p:cNvPr id="5" name="Flag RU red"/>
          <p:cNvSpPr/>
          <p:nvPr/>
        </p:nvSpPr>
        <p:spPr>
          <a:xfrm>
            <a:off x="457200" y="1341120"/>
            <a:ext cx="548640" cy="121920"/>
          </a:xfrm>
          <a:prstGeom prst="rect">
            <a:avLst/>
          </a:prstGeom>
          <a:solidFill>
            <a:srgbClr val="D52B1E"/>
          </a:solidFill>
          <a:ln w="12700">
            <a:solidFill>
              <a:srgbClr val="D52B1E"/>
            </a:solidFill>
            <a:prstDash val="solid"/>
          </a:ln>
        </p:spPr>
      </p:sp>
      <p:sp>
        <p:nvSpPr>
          <p:cNvPr id="6" name="Stage Kindergarten"/>
          <p:cNvSpPr/>
          <p:nvPr/>
        </p:nvSpPr>
        <p:spPr>
          <a:xfrm>
            <a:off x="457200" y="1691640"/>
            <a:ext cx="1441094" cy="2514600"/>
          </a:xfrm>
          <a:prstGeom prst="roundRect">
            <a:avLst>
              <a:gd name="adj" fmla="val 9518"/>
            </a:avLst>
          </a:prstGeom>
          <a:solidFill>
            <a:srgbClr val="FFFFFF"/>
          </a:solidFill>
          <a:ln w="12700">
            <a:solidFill>
              <a:srgbClr val="FFFFFF"/>
            </a:solidFill>
            <a:prstDash val="solid"/>
          </a:ln>
          <a:effectLst>
            <a:outerShdw sx="100000" sy="100000" kx="0" ky="0" algn="bl" rotWithShape="0" blurRad="101600" dist="50800" dir="5400000">
              <a:srgbClr val="3B2A1F">
                <a:alpha val="12000"/>
              </a:srgbClr>
            </a:outerShdw>
          </a:effectLst>
        </p:spPr>
      </p:sp>
      <p:sp>
        <p:nvSpPr>
          <p:cNvPr id="7" name="Circle Kindergarten"/>
          <p:cNvSpPr/>
          <p:nvPr/>
        </p:nvSpPr>
        <p:spPr>
          <a:xfrm>
            <a:off x="697687" y="1856232"/>
            <a:ext cx="960120" cy="960120"/>
          </a:xfrm>
          <a:prstGeom prst="ellipse">
            <a:avLst/>
          </a:prstGeom>
          <a:solidFill>
            <a:srgbClr val="F7B84B"/>
          </a:solidFill>
          <a:ln w="12700">
            <a:solidFill>
              <a:srgbClr val="F7B84B"/>
            </a:solidFill>
            <a:prstDash val="solid"/>
          </a:ln>
        </p:spPr>
      </p:sp>
      <p:pic>
        <p:nvPicPr>
          <p:cNvPr id="8" name="Icon Kindergarten" descr="preencoded.png">    </p:cNvPr>
          <p:cNvPicPr>
            <a:picLocks noChangeAspect="1"/>
          </p:cNvPicPr>
          <p:nvPr/>
        </p:nvPicPr>
        <p:blipFill>
          <a:blip r:embed="rId1"/>
          <a:stretch>
            <a:fillRect/>
          </a:stretch>
        </p:blipFill>
        <p:spPr>
          <a:xfrm>
            <a:off x="811987" y="1965960"/>
            <a:ext cx="731520" cy="731520"/>
          </a:xfrm>
          <a:prstGeom prst="rect">
            <a:avLst/>
          </a:prstGeom>
        </p:spPr>
      </p:pic>
      <p:sp>
        <p:nvSpPr>
          <p:cNvPr id="9" name="Text 6"/>
          <p:cNvSpPr txBox="1"/>
          <p:nvPr/>
        </p:nvSpPr>
        <p:spPr>
          <a:xfrm>
            <a:off x="530352" y="2926080"/>
            <a:ext cx="1294790" cy="548640"/>
          </a:xfrm>
          <a:prstGeom prst="rect">
            <a:avLst/>
          </a:prstGeom>
          <a:noFill/>
          <a:ln/>
        </p:spPr>
        <p:txBody>
          <a:bodyPr wrap="square" lIns="0" tIns="0" rIns="0" bIns="0" rtlCol="0" anchor="ctr"/>
          <a:lstStyle/>
          <a:p>
            <a:pPr algn="ctr" indent="0" marL="0">
              <a:buNone/>
            </a:pPr>
            <a:r>
              <a:rPr lang="en-US" sz="1500" b="1" dirty="0">
                <a:solidFill>
                  <a:schemeClr val="tx1"/>
                </a:solidFill>
                <a:latin typeface="Cambria" pitchFamily="34" charset="0"/>
                <a:ea typeface="Cambria" pitchFamily="34" charset="-122"/>
                <a:cs typeface="Cambria" pitchFamily="34" charset="-120"/>
              </a:rPr>
              <a:t>Kindergarten</a:t>
            </a:r>
            <a:endParaRPr lang="en-US" sz="1500" dirty="0"/>
          </a:p>
        </p:txBody>
      </p:sp>
      <p:sp>
        <p:nvSpPr>
          <p:cNvPr id="10" name="Text 7"/>
          <p:cNvSpPr txBox="1"/>
          <p:nvPr/>
        </p:nvSpPr>
        <p:spPr>
          <a:xfrm>
            <a:off x="530352" y="3493008"/>
            <a:ext cx="1294790" cy="320040"/>
          </a:xfrm>
          <a:prstGeom prst="rect">
            <a:avLst/>
          </a:prstGeom>
          <a:noFill/>
          <a:ln/>
        </p:spPr>
        <p:txBody>
          <a:bodyPr wrap="square" lIns="0" tIns="0" rIns="0" bIns="0" rtlCol="0" anchor="ctr"/>
          <a:lstStyle/>
          <a:p>
            <a:pPr algn="ctr" indent="0" marL="0">
              <a:buNone/>
            </a:pPr>
            <a:r>
              <a:rPr lang="en-US" sz="1400" b="1" dirty="0">
                <a:solidFill>
                  <a:schemeClr val="accent6"/>
                </a:solidFill>
                <a:latin typeface="Calibri" pitchFamily="34" charset="0"/>
                <a:ea typeface="Calibri" pitchFamily="34" charset="-122"/>
                <a:cs typeface="Calibri" pitchFamily="34" charset="-120"/>
              </a:rPr>
              <a:t>3 – 7 years old</a:t>
            </a:r>
            <a:endParaRPr lang="en-US" sz="1400" dirty="0"/>
          </a:p>
        </p:txBody>
      </p:sp>
      <p:sp>
        <p:nvSpPr>
          <p:cNvPr id="11" name="Arrow 0"/>
          <p:cNvSpPr/>
          <p:nvPr/>
        </p:nvSpPr>
        <p:spPr>
          <a:xfrm>
            <a:off x="1925726" y="2240280"/>
            <a:ext cx="201168" cy="219456"/>
          </a:xfrm>
          <a:prstGeom prst="rightArrow">
            <a:avLst/>
          </a:prstGeom>
          <a:solidFill>
            <a:srgbClr val="A9A6EE"/>
          </a:solidFill>
          <a:ln w="12700">
            <a:solidFill>
              <a:srgbClr val="A9A6EE"/>
            </a:solidFill>
            <a:prstDash val="solid"/>
          </a:ln>
        </p:spPr>
      </p:sp>
      <p:sp>
        <p:nvSpPr>
          <p:cNvPr id="12" name="Stage Primary School"/>
          <p:cNvSpPr/>
          <p:nvPr/>
        </p:nvSpPr>
        <p:spPr>
          <a:xfrm>
            <a:off x="2154326" y="1691640"/>
            <a:ext cx="1441094" cy="2514600"/>
          </a:xfrm>
          <a:prstGeom prst="roundRect">
            <a:avLst>
              <a:gd name="adj" fmla="val 9518"/>
            </a:avLst>
          </a:prstGeom>
          <a:solidFill>
            <a:srgbClr val="FFFFFF"/>
          </a:solidFill>
          <a:ln w="12700">
            <a:solidFill>
              <a:srgbClr val="FFFFFF"/>
            </a:solidFill>
            <a:prstDash val="solid"/>
          </a:ln>
          <a:effectLst>
            <a:outerShdw sx="100000" sy="100000" kx="0" ky="0" algn="bl" rotWithShape="0" blurRad="101600" dist="50800" dir="5400000">
              <a:srgbClr val="3B2A1F">
                <a:alpha val="12000"/>
              </a:srgbClr>
            </a:outerShdw>
          </a:effectLst>
        </p:spPr>
      </p:sp>
      <p:sp>
        <p:nvSpPr>
          <p:cNvPr id="13" name="Circle Primary School"/>
          <p:cNvSpPr/>
          <p:nvPr/>
        </p:nvSpPr>
        <p:spPr>
          <a:xfrm>
            <a:off x="2394814" y="1856232"/>
            <a:ext cx="960120" cy="960120"/>
          </a:xfrm>
          <a:prstGeom prst="ellipse">
            <a:avLst/>
          </a:prstGeom>
          <a:solidFill>
            <a:srgbClr val="86D3B5"/>
          </a:solidFill>
          <a:ln w="12700">
            <a:solidFill>
              <a:srgbClr val="86D3B5"/>
            </a:solidFill>
            <a:prstDash val="solid"/>
          </a:ln>
        </p:spPr>
      </p:sp>
      <p:pic>
        <p:nvPicPr>
          <p:cNvPr id="14" name="Icon Primary School" descr="preencoded.png">    </p:cNvPr>
          <p:cNvPicPr>
            <a:picLocks noChangeAspect="1"/>
          </p:cNvPicPr>
          <p:nvPr/>
        </p:nvPicPr>
        <p:blipFill>
          <a:blip r:embed="rId2"/>
          <a:stretch>
            <a:fillRect/>
          </a:stretch>
        </p:blipFill>
        <p:spPr>
          <a:xfrm>
            <a:off x="2509114" y="1965960"/>
            <a:ext cx="731520" cy="731520"/>
          </a:xfrm>
          <a:prstGeom prst="rect">
            <a:avLst/>
          </a:prstGeom>
        </p:spPr>
      </p:pic>
      <p:sp>
        <p:nvSpPr>
          <p:cNvPr id="15" name="Text 11"/>
          <p:cNvSpPr txBox="1"/>
          <p:nvPr/>
        </p:nvSpPr>
        <p:spPr>
          <a:xfrm>
            <a:off x="2227478" y="2926080"/>
            <a:ext cx="1294790" cy="548640"/>
          </a:xfrm>
          <a:prstGeom prst="rect">
            <a:avLst/>
          </a:prstGeom>
          <a:noFill/>
          <a:ln/>
        </p:spPr>
        <p:txBody>
          <a:bodyPr wrap="square" lIns="0" tIns="0" rIns="0" bIns="0" rtlCol="0" anchor="ctr"/>
          <a:lstStyle/>
          <a:p>
            <a:pPr algn="ctr" indent="0" marL="0">
              <a:buNone/>
            </a:pPr>
            <a:r>
              <a:rPr lang="en-US" sz="1500" b="1" dirty="0">
                <a:solidFill>
                  <a:schemeClr val="tx1"/>
                </a:solidFill>
                <a:latin typeface="Cambria" pitchFamily="34" charset="0"/>
                <a:ea typeface="Cambria" pitchFamily="34" charset="-122"/>
                <a:cs typeface="Cambria" pitchFamily="34" charset="-120"/>
              </a:rPr>
              <a:t>Primary School</a:t>
            </a:r>
            <a:endParaRPr lang="en-US" sz="1500" dirty="0"/>
          </a:p>
        </p:txBody>
      </p:sp>
      <p:sp>
        <p:nvSpPr>
          <p:cNvPr id="16" name="Text 12"/>
          <p:cNvSpPr txBox="1"/>
          <p:nvPr/>
        </p:nvSpPr>
        <p:spPr>
          <a:xfrm>
            <a:off x="2227478" y="3493008"/>
            <a:ext cx="1294790" cy="320040"/>
          </a:xfrm>
          <a:prstGeom prst="rect">
            <a:avLst/>
          </a:prstGeom>
          <a:noFill/>
          <a:ln/>
        </p:spPr>
        <p:txBody>
          <a:bodyPr wrap="square" lIns="0" tIns="0" rIns="0" bIns="0" rtlCol="0" anchor="ctr"/>
          <a:lstStyle/>
          <a:p>
            <a:pPr algn="ctr" indent="0" marL="0">
              <a:buNone/>
            </a:pPr>
            <a:r>
              <a:rPr lang="en-US" sz="1400" b="1" dirty="0">
                <a:solidFill>
                  <a:schemeClr val="accent6"/>
                </a:solidFill>
                <a:latin typeface="Calibri" pitchFamily="34" charset="0"/>
                <a:ea typeface="Calibri" pitchFamily="34" charset="-122"/>
                <a:cs typeface="Calibri" pitchFamily="34" charset="-120"/>
              </a:rPr>
              <a:t>7 – 11 years old</a:t>
            </a:r>
            <a:endParaRPr lang="en-US" sz="1400" dirty="0"/>
          </a:p>
        </p:txBody>
      </p:sp>
      <p:sp>
        <p:nvSpPr>
          <p:cNvPr id="17" name="Text 13"/>
          <p:cNvSpPr txBox="1"/>
          <p:nvPr/>
        </p:nvSpPr>
        <p:spPr>
          <a:xfrm>
            <a:off x="2227478" y="3794760"/>
            <a:ext cx="1294790" cy="320040"/>
          </a:xfrm>
          <a:prstGeom prst="rect">
            <a:avLst/>
          </a:prstGeom>
          <a:noFill/>
          <a:ln/>
        </p:spPr>
        <p:txBody>
          <a:bodyPr wrap="square" lIns="0" tIns="0" rIns="0" bIns="0" rtlCol="0" anchor="ctr"/>
          <a:lstStyle/>
          <a:p>
            <a:pPr algn="ctr" indent="0" marL="0">
              <a:buNone/>
            </a:pPr>
            <a:r>
              <a:rPr lang="en-US" sz="1200" dirty="0">
                <a:solidFill>
                  <a:srgbClr val="6E6460"/>
                </a:solidFill>
                <a:latin typeface="Calibri" pitchFamily="34" charset="0"/>
                <a:ea typeface="Calibri" pitchFamily="34" charset="-122"/>
                <a:cs typeface="Calibri" pitchFamily="34" charset="-120"/>
              </a:rPr>
              <a:t>Years 1 – 4</a:t>
            </a:r>
            <a:endParaRPr lang="en-US" sz="1200" dirty="0"/>
          </a:p>
        </p:txBody>
      </p:sp>
      <p:sp>
        <p:nvSpPr>
          <p:cNvPr id="18" name="Arrow 1"/>
          <p:cNvSpPr/>
          <p:nvPr/>
        </p:nvSpPr>
        <p:spPr>
          <a:xfrm>
            <a:off x="3622853" y="2240280"/>
            <a:ext cx="201168" cy="219456"/>
          </a:xfrm>
          <a:prstGeom prst="rightArrow">
            <a:avLst/>
          </a:prstGeom>
          <a:solidFill>
            <a:srgbClr val="A9A6EE"/>
          </a:solidFill>
          <a:ln w="12700">
            <a:solidFill>
              <a:srgbClr val="A9A6EE"/>
            </a:solidFill>
            <a:prstDash val="solid"/>
          </a:ln>
        </p:spPr>
      </p:sp>
      <p:sp>
        <p:nvSpPr>
          <p:cNvPr id="19" name="Stage Secondary School"/>
          <p:cNvSpPr/>
          <p:nvPr/>
        </p:nvSpPr>
        <p:spPr>
          <a:xfrm>
            <a:off x="3851453" y="1691640"/>
            <a:ext cx="1441094" cy="2514600"/>
          </a:xfrm>
          <a:prstGeom prst="roundRect">
            <a:avLst>
              <a:gd name="adj" fmla="val 9518"/>
            </a:avLst>
          </a:prstGeom>
          <a:solidFill>
            <a:srgbClr val="FFFFFF"/>
          </a:solidFill>
          <a:ln w="12700">
            <a:solidFill>
              <a:srgbClr val="FFFFFF"/>
            </a:solidFill>
            <a:prstDash val="solid"/>
          </a:ln>
          <a:effectLst>
            <a:outerShdw sx="100000" sy="100000" kx="0" ky="0" algn="bl" rotWithShape="0" blurRad="101600" dist="50800" dir="5400000">
              <a:srgbClr val="3B2A1F">
                <a:alpha val="12000"/>
              </a:srgbClr>
            </a:outerShdw>
          </a:effectLst>
        </p:spPr>
      </p:sp>
      <p:sp>
        <p:nvSpPr>
          <p:cNvPr id="20" name="Circle Secondary School"/>
          <p:cNvSpPr/>
          <p:nvPr/>
        </p:nvSpPr>
        <p:spPr>
          <a:xfrm>
            <a:off x="4091940" y="1856232"/>
            <a:ext cx="960120" cy="960120"/>
          </a:xfrm>
          <a:prstGeom prst="ellipse">
            <a:avLst/>
          </a:prstGeom>
          <a:solidFill>
            <a:srgbClr val="A9A6EE"/>
          </a:solidFill>
          <a:ln w="12700">
            <a:solidFill>
              <a:srgbClr val="A9A6EE"/>
            </a:solidFill>
            <a:prstDash val="solid"/>
          </a:ln>
        </p:spPr>
      </p:sp>
      <p:pic>
        <p:nvPicPr>
          <p:cNvPr id="21" name="Icon Secondary School" descr="preencoded.png">    </p:cNvPr>
          <p:cNvPicPr>
            <a:picLocks noChangeAspect="1"/>
          </p:cNvPicPr>
          <p:nvPr/>
        </p:nvPicPr>
        <p:blipFill>
          <a:blip r:embed="rId3"/>
          <a:stretch>
            <a:fillRect/>
          </a:stretch>
        </p:blipFill>
        <p:spPr>
          <a:xfrm>
            <a:off x="4206240" y="1965960"/>
            <a:ext cx="731520" cy="731520"/>
          </a:xfrm>
          <a:prstGeom prst="rect">
            <a:avLst/>
          </a:prstGeom>
        </p:spPr>
      </p:pic>
      <p:sp>
        <p:nvSpPr>
          <p:cNvPr id="22" name="Text 17"/>
          <p:cNvSpPr txBox="1"/>
          <p:nvPr/>
        </p:nvSpPr>
        <p:spPr>
          <a:xfrm>
            <a:off x="3924605" y="2926080"/>
            <a:ext cx="1294790" cy="548640"/>
          </a:xfrm>
          <a:prstGeom prst="rect">
            <a:avLst/>
          </a:prstGeom>
          <a:noFill/>
          <a:ln/>
        </p:spPr>
        <p:txBody>
          <a:bodyPr wrap="square" lIns="0" tIns="0" rIns="0" bIns="0" rtlCol="0" anchor="ctr"/>
          <a:lstStyle/>
          <a:p>
            <a:pPr algn="ctr" indent="0" marL="0">
              <a:buNone/>
            </a:pPr>
            <a:r>
              <a:rPr lang="en-US" sz="1500" b="1" dirty="0">
                <a:solidFill>
                  <a:schemeClr val="tx1"/>
                </a:solidFill>
                <a:latin typeface="Cambria" pitchFamily="34" charset="0"/>
                <a:ea typeface="Cambria" pitchFamily="34" charset="-122"/>
                <a:cs typeface="Cambria" pitchFamily="34" charset="-120"/>
              </a:rPr>
              <a:t>Secondary School</a:t>
            </a:r>
            <a:endParaRPr lang="en-US" sz="1500" dirty="0"/>
          </a:p>
        </p:txBody>
      </p:sp>
      <p:sp>
        <p:nvSpPr>
          <p:cNvPr id="23" name="Text 18"/>
          <p:cNvSpPr txBox="1"/>
          <p:nvPr/>
        </p:nvSpPr>
        <p:spPr>
          <a:xfrm>
            <a:off x="3924605" y="3493008"/>
            <a:ext cx="1294790" cy="320040"/>
          </a:xfrm>
          <a:prstGeom prst="rect">
            <a:avLst/>
          </a:prstGeom>
          <a:noFill/>
          <a:ln/>
        </p:spPr>
        <p:txBody>
          <a:bodyPr wrap="square" lIns="0" tIns="0" rIns="0" bIns="0" rtlCol="0" anchor="ctr"/>
          <a:lstStyle/>
          <a:p>
            <a:pPr algn="ctr" indent="0" marL="0">
              <a:buNone/>
            </a:pPr>
            <a:r>
              <a:rPr lang="en-US" sz="1400" b="1" dirty="0">
                <a:solidFill>
                  <a:schemeClr val="accent6"/>
                </a:solidFill>
                <a:latin typeface="Calibri" pitchFamily="34" charset="0"/>
                <a:ea typeface="Calibri" pitchFamily="34" charset="-122"/>
                <a:cs typeface="Calibri" pitchFamily="34" charset="-120"/>
              </a:rPr>
              <a:t>11 – 16 years old</a:t>
            </a:r>
            <a:endParaRPr lang="en-US" sz="1400" dirty="0"/>
          </a:p>
        </p:txBody>
      </p:sp>
      <p:sp>
        <p:nvSpPr>
          <p:cNvPr id="24" name="Text 19"/>
          <p:cNvSpPr txBox="1"/>
          <p:nvPr/>
        </p:nvSpPr>
        <p:spPr>
          <a:xfrm>
            <a:off x="3924605" y="3794760"/>
            <a:ext cx="1294790" cy="320040"/>
          </a:xfrm>
          <a:prstGeom prst="rect">
            <a:avLst/>
          </a:prstGeom>
          <a:noFill/>
          <a:ln/>
        </p:spPr>
        <p:txBody>
          <a:bodyPr wrap="square" lIns="0" tIns="0" rIns="0" bIns="0" rtlCol="0" anchor="ctr"/>
          <a:lstStyle/>
          <a:p>
            <a:pPr algn="ctr" indent="0" marL="0">
              <a:buNone/>
            </a:pPr>
            <a:r>
              <a:rPr lang="en-US" sz="1200" dirty="0">
                <a:solidFill>
                  <a:srgbClr val="6E6460"/>
                </a:solidFill>
                <a:latin typeface="Calibri" pitchFamily="34" charset="0"/>
                <a:ea typeface="Calibri" pitchFamily="34" charset="-122"/>
                <a:cs typeface="Calibri" pitchFamily="34" charset="-120"/>
              </a:rPr>
              <a:t>Years 5 – 9</a:t>
            </a:r>
            <a:endParaRPr lang="en-US" sz="1200" dirty="0"/>
          </a:p>
        </p:txBody>
      </p:sp>
      <p:sp>
        <p:nvSpPr>
          <p:cNvPr id="25" name="Arrow 2"/>
          <p:cNvSpPr/>
          <p:nvPr/>
        </p:nvSpPr>
        <p:spPr>
          <a:xfrm>
            <a:off x="5319979" y="2240280"/>
            <a:ext cx="201168" cy="219456"/>
          </a:xfrm>
          <a:prstGeom prst="rightArrow">
            <a:avLst/>
          </a:prstGeom>
          <a:solidFill>
            <a:srgbClr val="A9A6EE"/>
          </a:solidFill>
          <a:ln w="12700">
            <a:solidFill>
              <a:srgbClr val="A9A6EE"/>
            </a:solidFill>
            <a:prstDash val="solid"/>
          </a:ln>
        </p:spPr>
      </p:sp>
      <p:sp>
        <p:nvSpPr>
          <p:cNvPr id="26" name="Stage Senior School or College"/>
          <p:cNvSpPr/>
          <p:nvPr/>
        </p:nvSpPr>
        <p:spPr>
          <a:xfrm>
            <a:off x="5548579" y="1691640"/>
            <a:ext cx="1441094" cy="2514600"/>
          </a:xfrm>
          <a:prstGeom prst="roundRect">
            <a:avLst>
              <a:gd name="adj" fmla="val 9518"/>
            </a:avLst>
          </a:prstGeom>
          <a:solidFill>
            <a:srgbClr val="FFFFFF"/>
          </a:solidFill>
          <a:ln w="12700">
            <a:solidFill>
              <a:srgbClr val="FFFFFF"/>
            </a:solidFill>
            <a:prstDash val="solid"/>
          </a:ln>
          <a:effectLst>
            <a:outerShdw sx="100000" sy="100000" kx="0" ky="0" algn="bl" rotWithShape="0" blurRad="101600" dist="50800" dir="5400000">
              <a:srgbClr val="3B2A1F">
                <a:alpha val="12000"/>
              </a:srgbClr>
            </a:outerShdw>
          </a:effectLst>
        </p:spPr>
      </p:sp>
      <p:sp>
        <p:nvSpPr>
          <p:cNvPr id="27" name="Circle Senior School or College"/>
          <p:cNvSpPr/>
          <p:nvPr/>
        </p:nvSpPr>
        <p:spPr>
          <a:xfrm>
            <a:off x="5789066" y="1856232"/>
            <a:ext cx="960120" cy="960120"/>
          </a:xfrm>
          <a:prstGeom prst="ellipse">
            <a:avLst/>
          </a:prstGeom>
          <a:solidFill>
            <a:srgbClr val="86D3B5"/>
          </a:solidFill>
          <a:ln w="12700">
            <a:solidFill>
              <a:srgbClr val="86D3B5"/>
            </a:solidFill>
            <a:prstDash val="solid"/>
          </a:ln>
        </p:spPr>
      </p:sp>
      <p:pic>
        <p:nvPicPr>
          <p:cNvPr id="28" name="Icon Senior School or College" descr="preencoded.png">    </p:cNvPr>
          <p:cNvPicPr>
            <a:picLocks noChangeAspect="1"/>
          </p:cNvPicPr>
          <p:nvPr/>
        </p:nvPicPr>
        <p:blipFill>
          <a:blip r:embed="rId4"/>
          <a:stretch>
            <a:fillRect/>
          </a:stretch>
        </p:blipFill>
        <p:spPr>
          <a:xfrm>
            <a:off x="5903366" y="1965960"/>
            <a:ext cx="731520" cy="731520"/>
          </a:xfrm>
          <a:prstGeom prst="rect">
            <a:avLst/>
          </a:prstGeom>
        </p:spPr>
      </p:pic>
      <p:sp>
        <p:nvSpPr>
          <p:cNvPr id="29" name="Text 23"/>
          <p:cNvSpPr txBox="1"/>
          <p:nvPr/>
        </p:nvSpPr>
        <p:spPr>
          <a:xfrm>
            <a:off x="5621731" y="2926080"/>
            <a:ext cx="1294790" cy="548640"/>
          </a:xfrm>
          <a:prstGeom prst="rect">
            <a:avLst/>
          </a:prstGeom>
          <a:noFill/>
          <a:ln/>
        </p:spPr>
        <p:txBody>
          <a:bodyPr wrap="square" lIns="0" tIns="0" rIns="0" bIns="0" rtlCol="0" anchor="ctr"/>
          <a:lstStyle/>
          <a:p>
            <a:pPr algn="ctr" indent="0" marL="0">
              <a:buNone/>
            </a:pPr>
            <a:r>
              <a:rPr lang="en-US" sz="1500" b="1" dirty="0">
                <a:solidFill>
                  <a:schemeClr val="tx1"/>
                </a:solidFill>
                <a:latin typeface="Cambria" pitchFamily="34" charset="0"/>
                <a:ea typeface="Cambria" pitchFamily="34" charset="-122"/>
                <a:cs typeface="Cambria" pitchFamily="34" charset="-120"/>
              </a:rPr>
              <a:t>Senior School or College</a:t>
            </a:r>
            <a:endParaRPr lang="en-US" sz="1500" dirty="0"/>
          </a:p>
        </p:txBody>
      </p:sp>
      <p:sp>
        <p:nvSpPr>
          <p:cNvPr id="30" name="Text 24"/>
          <p:cNvSpPr txBox="1"/>
          <p:nvPr/>
        </p:nvSpPr>
        <p:spPr>
          <a:xfrm>
            <a:off x="5621731" y="3493008"/>
            <a:ext cx="1294790" cy="320040"/>
          </a:xfrm>
          <a:prstGeom prst="rect">
            <a:avLst/>
          </a:prstGeom>
          <a:noFill/>
          <a:ln/>
        </p:spPr>
        <p:txBody>
          <a:bodyPr wrap="square" lIns="0" tIns="0" rIns="0" bIns="0" rtlCol="0" anchor="ctr"/>
          <a:lstStyle/>
          <a:p>
            <a:pPr algn="ctr" indent="0" marL="0">
              <a:buNone/>
            </a:pPr>
            <a:r>
              <a:rPr lang="en-US" sz="1400" b="1" dirty="0">
                <a:solidFill>
                  <a:schemeClr val="accent6"/>
                </a:solidFill>
                <a:latin typeface="Calibri" pitchFamily="34" charset="0"/>
                <a:ea typeface="Calibri" pitchFamily="34" charset="-122"/>
                <a:cs typeface="Calibri" pitchFamily="34" charset="-120"/>
              </a:rPr>
              <a:t>16 – 18 years old</a:t>
            </a:r>
            <a:endParaRPr lang="en-US" sz="1400" dirty="0"/>
          </a:p>
        </p:txBody>
      </p:sp>
      <p:sp>
        <p:nvSpPr>
          <p:cNvPr id="31" name="Text 25"/>
          <p:cNvSpPr txBox="1"/>
          <p:nvPr/>
        </p:nvSpPr>
        <p:spPr>
          <a:xfrm>
            <a:off x="5621731" y="3794760"/>
            <a:ext cx="1294790" cy="320040"/>
          </a:xfrm>
          <a:prstGeom prst="rect">
            <a:avLst/>
          </a:prstGeom>
          <a:noFill/>
          <a:ln/>
        </p:spPr>
        <p:txBody>
          <a:bodyPr wrap="square" lIns="0" tIns="0" rIns="0" bIns="0" rtlCol="0" anchor="ctr"/>
          <a:lstStyle/>
          <a:p>
            <a:pPr algn="ctr" indent="0" marL="0">
              <a:buNone/>
            </a:pPr>
            <a:r>
              <a:rPr lang="en-US" sz="1200" dirty="0">
                <a:solidFill>
                  <a:srgbClr val="6E6460"/>
                </a:solidFill>
                <a:latin typeface="Calibri" pitchFamily="34" charset="0"/>
                <a:ea typeface="Calibri" pitchFamily="34" charset="-122"/>
                <a:cs typeface="Calibri" pitchFamily="34" charset="-120"/>
              </a:rPr>
              <a:t>Years 10 – 11</a:t>
            </a:r>
            <a:endParaRPr lang="en-US" sz="1200" dirty="0"/>
          </a:p>
        </p:txBody>
      </p:sp>
      <p:sp>
        <p:nvSpPr>
          <p:cNvPr id="32" name="Arrow 3"/>
          <p:cNvSpPr/>
          <p:nvPr/>
        </p:nvSpPr>
        <p:spPr>
          <a:xfrm>
            <a:off x="7017106" y="2240280"/>
            <a:ext cx="201168" cy="219456"/>
          </a:xfrm>
          <a:prstGeom prst="rightArrow">
            <a:avLst/>
          </a:prstGeom>
          <a:solidFill>
            <a:srgbClr val="A9A6EE"/>
          </a:solidFill>
          <a:ln w="12700">
            <a:solidFill>
              <a:srgbClr val="A9A6EE"/>
            </a:solidFill>
            <a:prstDash val="solid"/>
          </a:ln>
        </p:spPr>
      </p:sp>
      <p:sp>
        <p:nvSpPr>
          <p:cNvPr id="33" name="Stage University"/>
          <p:cNvSpPr/>
          <p:nvPr/>
        </p:nvSpPr>
        <p:spPr>
          <a:xfrm>
            <a:off x="7245706" y="1691640"/>
            <a:ext cx="1441094" cy="2514600"/>
          </a:xfrm>
          <a:prstGeom prst="roundRect">
            <a:avLst>
              <a:gd name="adj" fmla="val 9518"/>
            </a:avLst>
          </a:prstGeom>
          <a:solidFill>
            <a:srgbClr val="FFFFFF"/>
          </a:solidFill>
          <a:ln w="12700">
            <a:solidFill>
              <a:srgbClr val="FFFFFF"/>
            </a:solidFill>
            <a:prstDash val="solid"/>
          </a:ln>
          <a:effectLst>
            <a:outerShdw sx="100000" sy="100000" kx="0" ky="0" algn="bl" rotWithShape="0" blurRad="101600" dist="50800" dir="5400000">
              <a:srgbClr val="3B2A1F">
                <a:alpha val="12000"/>
              </a:srgbClr>
            </a:outerShdw>
          </a:effectLst>
        </p:spPr>
      </p:sp>
      <p:sp>
        <p:nvSpPr>
          <p:cNvPr id="34" name="Circle University"/>
          <p:cNvSpPr/>
          <p:nvPr/>
        </p:nvSpPr>
        <p:spPr>
          <a:xfrm>
            <a:off x="7486193" y="1856232"/>
            <a:ext cx="960120" cy="960120"/>
          </a:xfrm>
          <a:prstGeom prst="ellipse">
            <a:avLst/>
          </a:prstGeom>
          <a:solidFill>
            <a:srgbClr val="F4776A"/>
          </a:solidFill>
          <a:ln w="12700">
            <a:solidFill>
              <a:srgbClr val="F4776A"/>
            </a:solidFill>
            <a:prstDash val="solid"/>
          </a:ln>
        </p:spPr>
      </p:sp>
      <p:pic>
        <p:nvPicPr>
          <p:cNvPr id="35" name="Icon University" descr="preencoded.png">    </p:cNvPr>
          <p:cNvPicPr>
            <a:picLocks noChangeAspect="1"/>
          </p:cNvPicPr>
          <p:nvPr/>
        </p:nvPicPr>
        <p:blipFill>
          <a:blip r:embed="rId5"/>
          <a:stretch>
            <a:fillRect/>
          </a:stretch>
        </p:blipFill>
        <p:spPr>
          <a:xfrm>
            <a:off x="7600493" y="1965960"/>
            <a:ext cx="731520" cy="731520"/>
          </a:xfrm>
          <a:prstGeom prst="rect">
            <a:avLst/>
          </a:prstGeom>
        </p:spPr>
      </p:pic>
      <p:sp>
        <p:nvSpPr>
          <p:cNvPr id="36" name="Text 29"/>
          <p:cNvSpPr txBox="1"/>
          <p:nvPr/>
        </p:nvSpPr>
        <p:spPr>
          <a:xfrm>
            <a:off x="7318858" y="2926080"/>
            <a:ext cx="1294790" cy="548640"/>
          </a:xfrm>
          <a:prstGeom prst="rect">
            <a:avLst/>
          </a:prstGeom>
          <a:noFill/>
          <a:ln/>
        </p:spPr>
        <p:txBody>
          <a:bodyPr wrap="square" lIns="0" tIns="0" rIns="0" bIns="0" rtlCol="0" anchor="ctr"/>
          <a:lstStyle/>
          <a:p>
            <a:pPr algn="ctr" indent="0" marL="0">
              <a:buNone/>
            </a:pPr>
            <a:r>
              <a:rPr lang="en-US" sz="1500" b="1" dirty="0">
                <a:solidFill>
                  <a:schemeClr val="tx1"/>
                </a:solidFill>
                <a:latin typeface="Cambria" pitchFamily="34" charset="0"/>
                <a:ea typeface="Cambria" pitchFamily="34" charset="-122"/>
                <a:cs typeface="Cambria" pitchFamily="34" charset="-120"/>
              </a:rPr>
              <a:t>University</a:t>
            </a:r>
            <a:endParaRPr lang="en-US" sz="1500" dirty="0"/>
          </a:p>
        </p:txBody>
      </p:sp>
      <p:sp>
        <p:nvSpPr>
          <p:cNvPr id="37" name="Text 30"/>
          <p:cNvSpPr txBox="1"/>
          <p:nvPr/>
        </p:nvSpPr>
        <p:spPr>
          <a:xfrm>
            <a:off x="7318858" y="3493008"/>
            <a:ext cx="1294790" cy="320040"/>
          </a:xfrm>
          <a:prstGeom prst="rect">
            <a:avLst/>
          </a:prstGeom>
          <a:noFill/>
          <a:ln/>
        </p:spPr>
        <p:txBody>
          <a:bodyPr wrap="square" lIns="0" tIns="0" rIns="0" bIns="0" rtlCol="0" anchor="ctr"/>
          <a:lstStyle/>
          <a:p>
            <a:pPr algn="ctr" indent="0" marL="0">
              <a:buNone/>
            </a:pPr>
            <a:r>
              <a:rPr lang="en-US" sz="1400" b="1" dirty="0">
                <a:solidFill>
                  <a:schemeClr val="accent6"/>
                </a:solidFill>
                <a:latin typeface="Calibri" pitchFamily="34" charset="0"/>
                <a:ea typeface="Calibri" pitchFamily="34" charset="-122"/>
                <a:cs typeface="Calibri" pitchFamily="34" charset="-120"/>
              </a:rPr>
              <a:t>17+ years old</a:t>
            </a:r>
            <a:endParaRPr lang="en-US" sz="1400" dirty="0"/>
          </a:p>
        </p:txBody>
      </p:sp>
      <p:sp>
        <p:nvSpPr>
          <p:cNvPr id="38" name="Text 31"/>
          <p:cNvSpPr txBox="1"/>
          <p:nvPr/>
        </p:nvSpPr>
        <p:spPr>
          <a:xfrm>
            <a:off x="1143000" y="1097280"/>
            <a:ext cx="6858000" cy="384048"/>
          </a:xfrm>
          <a:prstGeom prst="rect">
            <a:avLst/>
          </a:prstGeom>
          <a:noFill/>
          <a:ln/>
        </p:spPr>
        <p:txBody>
          <a:bodyPr wrap="square" lIns="0" tIns="0" rIns="0" bIns="0" rtlCol="0" anchor="ctr"/>
          <a:lstStyle/>
          <a:p>
            <a:pPr indent="0" marL="0">
              <a:buNone/>
            </a:pPr>
            <a:r>
              <a:rPr lang="en-US" sz="1500" i="1" dirty="0">
                <a:solidFill>
                  <a:schemeClr val="tx2"/>
                </a:solidFill>
                <a:latin typeface="Calibri" pitchFamily="34" charset="0"/>
                <a:ea typeface="Calibri" pitchFamily="34" charset="-122"/>
                <a:cs typeface="Calibri" pitchFamily="34" charset="-120"/>
              </a:rPr>
              <a:t>In Russia, children start school at 7.</a:t>
            </a:r>
            <a:endParaRPr lang="en-US" sz="15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460"/>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949440" cy="68580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England and Russia: ages</a:t>
            </a:r>
            <a:endParaRPr lang="en-US" sz="3200" dirty="0"/>
          </a:p>
        </p:txBody>
      </p:sp>
      <p:sp>
        <p:nvSpPr>
          <p:cNvPr id="3" name="Flag EN field"/>
          <p:cNvSpPr/>
          <p:nvPr/>
        </p:nvSpPr>
        <p:spPr>
          <a:xfrm>
            <a:off x="457200" y="1600200"/>
            <a:ext cx="457200" cy="274320"/>
          </a:xfrm>
          <a:prstGeom prst="rect">
            <a:avLst/>
          </a:prstGeom>
          <a:solidFill>
            <a:srgbClr val="FFFFFF"/>
          </a:solidFill>
          <a:ln w="9525">
            <a:solidFill>
              <a:srgbClr val="D9D9D9"/>
            </a:solidFill>
            <a:prstDash val="solid"/>
          </a:ln>
        </p:spPr>
      </p:sp>
      <p:sp>
        <p:nvSpPr>
          <p:cNvPr id="4" name="Flag EN bar"/>
          <p:cNvSpPr/>
          <p:nvPr/>
        </p:nvSpPr>
        <p:spPr>
          <a:xfrm>
            <a:off x="457200" y="1709928"/>
            <a:ext cx="457200" cy="54864"/>
          </a:xfrm>
          <a:prstGeom prst="rect">
            <a:avLst/>
          </a:prstGeom>
          <a:solidFill>
            <a:srgbClr val="CE1124"/>
          </a:solidFill>
          <a:ln w="12700">
            <a:solidFill>
              <a:srgbClr val="CE1124"/>
            </a:solidFill>
            <a:prstDash val="solid"/>
          </a:ln>
        </p:spPr>
      </p:sp>
      <p:sp>
        <p:nvSpPr>
          <p:cNvPr id="5" name="Flag EN post"/>
          <p:cNvSpPr/>
          <p:nvPr/>
        </p:nvSpPr>
        <p:spPr>
          <a:xfrm>
            <a:off x="658368" y="1600200"/>
            <a:ext cx="54864" cy="274320"/>
          </a:xfrm>
          <a:prstGeom prst="rect">
            <a:avLst/>
          </a:prstGeom>
          <a:solidFill>
            <a:srgbClr val="CE1124"/>
          </a:solidFill>
          <a:ln w="12700">
            <a:solidFill>
              <a:srgbClr val="CE1124"/>
            </a:solidFill>
            <a:prstDash val="solid"/>
          </a:ln>
        </p:spPr>
      </p:sp>
      <p:sp>
        <p:nvSpPr>
          <p:cNvPr id="6" name="Text 4"/>
          <p:cNvSpPr txBox="1"/>
          <p:nvPr/>
        </p:nvSpPr>
        <p:spPr>
          <a:xfrm>
            <a:off x="987552" y="1581912"/>
            <a:ext cx="822960" cy="365760"/>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England</a:t>
            </a:r>
            <a:endParaRPr lang="en-US" sz="1500" dirty="0"/>
          </a:p>
        </p:txBody>
      </p:sp>
      <p:sp>
        <p:nvSpPr>
          <p:cNvPr id="7" name="England Primary"/>
          <p:cNvSpPr/>
          <p:nvPr/>
        </p:nvSpPr>
        <p:spPr>
          <a:xfrm>
            <a:off x="2632396" y="1417320"/>
            <a:ext cx="2319349" cy="731520"/>
          </a:xfrm>
          <a:prstGeom prst="roundRect">
            <a:avLst>
              <a:gd name="adj" fmla="val 12500"/>
            </a:avLst>
          </a:prstGeom>
          <a:solidFill>
            <a:srgbClr val="F7B84B"/>
          </a:solidFill>
          <a:ln w="12700">
            <a:solidFill>
              <a:srgbClr val="F7B84B"/>
            </a:solidFill>
            <a:prstDash val="solid"/>
          </a:ln>
        </p:spPr>
      </p:sp>
      <p:sp>
        <p:nvSpPr>
          <p:cNvPr id="8" name="Text 6"/>
          <p:cNvSpPr txBox="1"/>
          <p:nvPr/>
        </p:nvSpPr>
        <p:spPr>
          <a:xfrm>
            <a:off x="2650684" y="1417320"/>
            <a:ext cx="2282773" cy="731520"/>
          </a:xfrm>
          <a:prstGeom prst="rect">
            <a:avLst/>
          </a:prstGeom>
          <a:noFill/>
          <a:ln/>
        </p:spPr>
        <p:txBody>
          <a:bodyPr wrap="square" lIns="0" tIns="0" rIns="0" bIns="0" rtlCol="0" anchor="ctr">
            <a:normAutofit/>
          </a:bodyPr>
          <a:lstStyle/>
          <a:p>
            <a:pPr algn="ctr" indent="0" marL="0">
              <a:buNone/>
            </a:pPr>
            <a:r>
              <a:rPr lang="en-US" sz="1200" b="1" dirty="0">
                <a:solidFill>
                  <a:schemeClr val="tx1"/>
                </a:solidFill>
                <a:latin typeface="Calibri" pitchFamily="34" charset="0"/>
                <a:ea typeface="Calibri" pitchFamily="34" charset="-122"/>
                <a:cs typeface="Calibri" pitchFamily="34" charset="-120"/>
              </a:rPr>
              <a:t>Primary</a:t>
            </a:r>
            <a:endParaRPr lang="en-US" sz="1200" dirty="0"/>
          </a:p>
        </p:txBody>
      </p:sp>
      <p:sp>
        <p:nvSpPr>
          <p:cNvPr id="9" name="England Secondary"/>
          <p:cNvSpPr/>
          <p:nvPr/>
        </p:nvSpPr>
        <p:spPr>
          <a:xfrm>
            <a:off x="4988321" y="1417320"/>
            <a:ext cx="1926695" cy="731520"/>
          </a:xfrm>
          <a:prstGeom prst="roundRect">
            <a:avLst>
              <a:gd name="adj" fmla="val 12500"/>
            </a:avLst>
          </a:prstGeom>
          <a:solidFill>
            <a:srgbClr val="86D3B5"/>
          </a:solidFill>
          <a:ln w="12700">
            <a:solidFill>
              <a:srgbClr val="86D3B5"/>
            </a:solidFill>
            <a:prstDash val="solid"/>
          </a:ln>
        </p:spPr>
      </p:sp>
      <p:sp>
        <p:nvSpPr>
          <p:cNvPr id="10" name="Text 8"/>
          <p:cNvSpPr txBox="1"/>
          <p:nvPr/>
        </p:nvSpPr>
        <p:spPr>
          <a:xfrm>
            <a:off x="5006609" y="1417320"/>
            <a:ext cx="1890119" cy="731520"/>
          </a:xfrm>
          <a:prstGeom prst="rect">
            <a:avLst/>
          </a:prstGeom>
          <a:noFill/>
          <a:ln/>
        </p:spPr>
        <p:txBody>
          <a:bodyPr wrap="square" lIns="0" tIns="0" rIns="0" bIns="0" rtlCol="0" anchor="ctr">
            <a:normAutofit/>
          </a:bodyPr>
          <a:lstStyle/>
          <a:p>
            <a:pPr algn="ctr" indent="0" marL="0">
              <a:buNone/>
            </a:pPr>
            <a:r>
              <a:rPr lang="en-US" sz="1200" b="1" dirty="0">
                <a:solidFill>
                  <a:schemeClr val="tx1"/>
                </a:solidFill>
                <a:latin typeface="Calibri" pitchFamily="34" charset="0"/>
                <a:ea typeface="Calibri" pitchFamily="34" charset="-122"/>
                <a:cs typeface="Calibri" pitchFamily="34" charset="-120"/>
              </a:rPr>
              <a:t>Secondary</a:t>
            </a:r>
            <a:endParaRPr lang="en-US" sz="1200" dirty="0"/>
          </a:p>
        </p:txBody>
      </p:sp>
      <p:sp>
        <p:nvSpPr>
          <p:cNvPr id="11" name="England Sixth Form"/>
          <p:cNvSpPr/>
          <p:nvPr/>
        </p:nvSpPr>
        <p:spPr>
          <a:xfrm>
            <a:off x="6951592" y="1417320"/>
            <a:ext cx="748732" cy="731520"/>
          </a:xfrm>
          <a:prstGeom prst="roundRect">
            <a:avLst>
              <a:gd name="adj" fmla="val 12500"/>
            </a:avLst>
          </a:prstGeom>
          <a:solidFill>
            <a:srgbClr val="A9A6EE"/>
          </a:solidFill>
          <a:ln w="12700">
            <a:solidFill>
              <a:srgbClr val="A9A6EE"/>
            </a:solidFill>
            <a:prstDash val="solid"/>
          </a:ln>
        </p:spPr>
      </p:sp>
      <p:sp>
        <p:nvSpPr>
          <p:cNvPr id="12" name="Text 10"/>
          <p:cNvSpPr txBox="1"/>
          <p:nvPr/>
        </p:nvSpPr>
        <p:spPr>
          <a:xfrm>
            <a:off x="6969880" y="1417320"/>
            <a:ext cx="712156" cy="731520"/>
          </a:xfrm>
          <a:prstGeom prst="rect">
            <a:avLst/>
          </a:prstGeom>
          <a:noFill/>
          <a:ln/>
        </p:spPr>
        <p:txBody>
          <a:bodyPr wrap="square" lIns="0" tIns="0" rIns="0" bIns="0" rtlCol="0" anchor="ctr">
            <a:normAutofit/>
          </a:bodyPr>
          <a:lstStyle/>
          <a:p>
            <a:pPr algn="ctr" indent="0" marL="0">
              <a:buNone/>
            </a:pPr>
            <a:r>
              <a:rPr lang="en-US" sz="1200" b="1" dirty="0">
                <a:solidFill>
                  <a:schemeClr val="tx1"/>
                </a:solidFill>
                <a:latin typeface="Calibri" pitchFamily="34" charset="0"/>
                <a:ea typeface="Calibri" pitchFamily="34" charset="-122"/>
                <a:cs typeface="Calibri" pitchFamily="34" charset="-120"/>
              </a:rPr>
              <a:t>Sixth Form</a:t>
            </a:r>
            <a:endParaRPr lang="en-US" sz="1200" dirty="0"/>
          </a:p>
        </p:txBody>
      </p:sp>
      <p:sp>
        <p:nvSpPr>
          <p:cNvPr id="13" name="England University"/>
          <p:cNvSpPr/>
          <p:nvPr/>
        </p:nvSpPr>
        <p:spPr>
          <a:xfrm>
            <a:off x="7736900" y="1417320"/>
            <a:ext cx="748732" cy="731520"/>
          </a:xfrm>
          <a:prstGeom prst="roundRect">
            <a:avLst>
              <a:gd name="adj" fmla="val 12500"/>
            </a:avLst>
          </a:prstGeom>
          <a:solidFill>
            <a:srgbClr val="F4776A"/>
          </a:solidFill>
          <a:ln w="12700">
            <a:solidFill>
              <a:srgbClr val="F4776A"/>
            </a:solidFill>
            <a:prstDash val="solid"/>
          </a:ln>
        </p:spPr>
      </p:sp>
      <p:sp>
        <p:nvSpPr>
          <p:cNvPr id="14" name="Text 12"/>
          <p:cNvSpPr txBox="1"/>
          <p:nvPr/>
        </p:nvSpPr>
        <p:spPr>
          <a:xfrm>
            <a:off x="7755188" y="1417320"/>
            <a:ext cx="712156" cy="731520"/>
          </a:xfrm>
          <a:prstGeom prst="rect">
            <a:avLst/>
          </a:prstGeom>
          <a:noFill/>
          <a:ln/>
        </p:spPr>
        <p:txBody>
          <a:bodyPr wrap="square" lIns="0" tIns="0" rIns="0" bIns="0" rtlCol="0" anchor="ctr">
            <a:normAutofit/>
          </a:bodyPr>
          <a:lstStyle/>
          <a:p>
            <a:pPr algn="ctr" indent="0" marL="0">
              <a:buNone/>
            </a:pPr>
            <a:r>
              <a:rPr lang="en-US" sz="1200" b="1" dirty="0">
                <a:solidFill>
                  <a:schemeClr val="tx1"/>
                </a:solidFill>
                <a:latin typeface="Calibri" pitchFamily="34" charset="0"/>
                <a:ea typeface="Calibri" pitchFamily="34" charset="-122"/>
                <a:cs typeface="Calibri" pitchFamily="34" charset="-120"/>
              </a:rPr>
              <a:t>University</a:t>
            </a:r>
            <a:endParaRPr lang="en-US" sz="1200" dirty="0"/>
          </a:p>
        </p:txBody>
      </p:sp>
      <p:sp>
        <p:nvSpPr>
          <p:cNvPr id="15" name="Flag RU white"/>
          <p:cNvSpPr/>
          <p:nvPr/>
        </p:nvSpPr>
        <p:spPr>
          <a:xfrm>
            <a:off x="457200" y="2788920"/>
            <a:ext cx="457200" cy="101600"/>
          </a:xfrm>
          <a:prstGeom prst="rect">
            <a:avLst/>
          </a:prstGeom>
          <a:solidFill>
            <a:srgbClr val="FFFFFF"/>
          </a:solidFill>
          <a:ln w="9525">
            <a:solidFill>
              <a:srgbClr val="D9D9D9"/>
            </a:solidFill>
            <a:prstDash val="solid"/>
          </a:ln>
        </p:spPr>
      </p:sp>
      <p:sp>
        <p:nvSpPr>
          <p:cNvPr id="16" name="Flag RU blue"/>
          <p:cNvSpPr/>
          <p:nvPr/>
        </p:nvSpPr>
        <p:spPr>
          <a:xfrm>
            <a:off x="457200" y="2890520"/>
            <a:ext cx="457200" cy="101600"/>
          </a:xfrm>
          <a:prstGeom prst="rect">
            <a:avLst/>
          </a:prstGeom>
          <a:solidFill>
            <a:srgbClr val="0039A6"/>
          </a:solidFill>
          <a:ln w="12700">
            <a:solidFill>
              <a:srgbClr val="0039A6"/>
            </a:solidFill>
            <a:prstDash val="solid"/>
          </a:ln>
        </p:spPr>
      </p:sp>
      <p:sp>
        <p:nvSpPr>
          <p:cNvPr id="17" name="Flag RU red"/>
          <p:cNvSpPr/>
          <p:nvPr/>
        </p:nvSpPr>
        <p:spPr>
          <a:xfrm>
            <a:off x="457200" y="2992120"/>
            <a:ext cx="457200" cy="101600"/>
          </a:xfrm>
          <a:prstGeom prst="rect">
            <a:avLst/>
          </a:prstGeom>
          <a:solidFill>
            <a:srgbClr val="D52B1E"/>
          </a:solidFill>
          <a:ln w="12700">
            <a:solidFill>
              <a:srgbClr val="D52B1E"/>
            </a:solidFill>
            <a:prstDash val="solid"/>
          </a:ln>
        </p:spPr>
      </p:sp>
      <p:sp>
        <p:nvSpPr>
          <p:cNvPr id="18" name="Text 16"/>
          <p:cNvSpPr txBox="1"/>
          <p:nvPr/>
        </p:nvSpPr>
        <p:spPr>
          <a:xfrm>
            <a:off x="987552" y="2770632"/>
            <a:ext cx="822960" cy="365760"/>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Russia</a:t>
            </a:r>
            <a:endParaRPr lang="en-US" sz="1500" dirty="0"/>
          </a:p>
        </p:txBody>
      </p:sp>
      <p:sp>
        <p:nvSpPr>
          <p:cNvPr id="19" name="Russia Kindergarten"/>
          <p:cNvSpPr/>
          <p:nvPr/>
        </p:nvSpPr>
        <p:spPr>
          <a:xfrm>
            <a:off x="1847088" y="2606040"/>
            <a:ext cx="1534040" cy="731520"/>
          </a:xfrm>
          <a:prstGeom prst="roundRect">
            <a:avLst>
              <a:gd name="adj" fmla="val 12500"/>
            </a:avLst>
          </a:prstGeom>
          <a:solidFill>
            <a:srgbClr val="FBE3A8"/>
          </a:solidFill>
          <a:ln w="12700">
            <a:solidFill>
              <a:srgbClr val="FBE3A8"/>
            </a:solidFill>
            <a:prstDash val="solid"/>
          </a:ln>
        </p:spPr>
      </p:sp>
      <p:sp>
        <p:nvSpPr>
          <p:cNvPr id="20" name="Text 18"/>
          <p:cNvSpPr txBox="1"/>
          <p:nvPr/>
        </p:nvSpPr>
        <p:spPr>
          <a:xfrm>
            <a:off x="1865376" y="2606040"/>
            <a:ext cx="1497464" cy="731520"/>
          </a:xfrm>
          <a:prstGeom prst="rect">
            <a:avLst/>
          </a:prstGeom>
          <a:noFill/>
          <a:ln/>
        </p:spPr>
        <p:txBody>
          <a:bodyPr wrap="square" lIns="0" tIns="0" rIns="0" bIns="0" rtlCol="0" anchor="ctr">
            <a:normAutofit/>
          </a:bodyPr>
          <a:lstStyle/>
          <a:p>
            <a:pPr algn="ctr" indent="0" marL="0">
              <a:buNone/>
            </a:pPr>
            <a:r>
              <a:rPr lang="en-US" sz="1200" b="1" dirty="0">
                <a:solidFill>
                  <a:schemeClr val="tx1"/>
                </a:solidFill>
                <a:latin typeface="Calibri" pitchFamily="34" charset="0"/>
                <a:ea typeface="Calibri" pitchFamily="34" charset="-122"/>
                <a:cs typeface="Calibri" pitchFamily="34" charset="-120"/>
              </a:rPr>
              <a:t>Kindergarten</a:t>
            </a:r>
            <a:endParaRPr lang="en-US" sz="1200" dirty="0"/>
          </a:p>
        </p:txBody>
      </p:sp>
      <p:sp>
        <p:nvSpPr>
          <p:cNvPr id="21" name="Russia Primary"/>
          <p:cNvSpPr/>
          <p:nvPr/>
        </p:nvSpPr>
        <p:spPr>
          <a:xfrm>
            <a:off x="3417704" y="2606040"/>
            <a:ext cx="1534040" cy="731520"/>
          </a:xfrm>
          <a:prstGeom prst="roundRect">
            <a:avLst>
              <a:gd name="adj" fmla="val 12500"/>
            </a:avLst>
          </a:prstGeom>
          <a:solidFill>
            <a:srgbClr val="F7B84B"/>
          </a:solidFill>
          <a:ln w="12700">
            <a:solidFill>
              <a:srgbClr val="F7B84B"/>
            </a:solidFill>
            <a:prstDash val="solid"/>
          </a:ln>
        </p:spPr>
      </p:sp>
      <p:sp>
        <p:nvSpPr>
          <p:cNvPr id="22" name="Text 20"/>
          <p:cNvSpPr txBox="1"/>
          <p:nvPr/>
        </p:nvSpPr>
        <p:spPr>
          <a:xfrm>
            <a:off x="3435992" y="2606040"/>
            <a:ext cx="1497464" cy="731520"/>
          </a:xfrm>
          <a:prstGeom prst="rect">
            <a:avLst/>
          </a:prstGeom>
          <a:noFill/>
          <a:ln/>
        </p:spPr>
        <p:txBody>
          <a:bodyPr wrap="square" lIns="0" tIns="0" rIns="0" bIns="0" rtlCol="0" anchor="ctr">
            <a:normAutofit/>
          </a:bodyPr>
          <a:lstStyle/>
          <a:p>
            <a:pPr algn="ctr" indent="0" marL="0">
              <a:buNone/>
            </a:pPr>
            <a:r>
              <a:rPr lang="en-US" sz="1200" b="1" dirty="0">
                <a:solidFill>
                  <a:schemeClr val="tx1"/>
                </a:solidFill>
                <a:latin typeface="Calibri" pitchFamily="34" charset="0"/>
                <a:ea typeface="Calibri" pitchFamily="34" charset="-122"/>
                <a:cs typeface="Calibri" pitchFamily="34" charset="-120"/>
              </a:rPr>
              <a:t>Primary</a:t>
            </a:r>
            <a:endParaRPr lang="en-US" sz="1200" dirty="0"/>
          </a:p>
        </p:txBody>
      </p:sp>
      <p:sp>
        <p:nvSpPr>
          <p:cNvPr id="23" name="Russia Secondary"/>
          <p:cNvSpPr/>
          <p:nvPr/>
        </p:nvSpPr>
        <p:spPr>
          <a:xfrm>
            <a:off x="4988321" y="2606040"/>
            <a:ext cx="1926695" cy="731520"/>
          </a:xfrm>
          <a:prstGeom prst="roundRect">
            <a:avLst>
              <a:gd name="adj" fmla="val 12500"/>
            </a:avLst>
          </a:prstGeom>
          <a:solidFill>
            <a:srgbClr val="86D3B5"/>
          </a:solidFill>
          <a:ln w="12700">
            <a:solidFill>
              <a:srgbClr val="86D3B5"/>
            </a:solidFill>
            <a:prstDash val="solid"/>
          </a:ln>
        </p:spPr>
      </p:sp>
      <p:sp>
        <p:nvSpPr>
          <p:cNvPr id="24" name="Text 22"/>
          <p:cNvSpPr txBox="1"/>
          <p:nvPr/>
        </p:nvSpPr>
        <p:spPr>
          <a:xfrm>
            <a:off x="5006609" y="2606040"/>
            <a:ext cx="1890119" cy="731520"/>
          </a:xfrm>
          <a:prstGeom prst="rect">
            <a:avLst/>
          </a:prstGeom>
          <a:noFill/>
          <a:ln/>
        </p:spPr>
        <p:txBody>
          <a:bodyPr wrap="square" lIns="0" tIns="0" rIns="0" bIns="0" rtlCol="0" anchor="ctr">
            <a:normAutofit/>
          </a:bodyPr>
          <a:lstStyle/>
          <a:p>
            <a:pPr algn="ctr" indent="0" marL="0">
              <a:buNone/>
            </a:pPr>
            <a:r>
              <a:rPr lang="en-US" sz="1200" b="1" dirty="0">
                <a:solidFill>
                  <a:schemeClr val="tx1"/>
                </a:solidFill>
                <a:latin typeface="Calibri" pitchFamily="34" charset="0"/>
                <a:ea typeface="Calibri" pitchFamily="34" charset="-122"/>
                <a:cs typeface="Calibri" pitchFamily="34" charset="-120"/>
              </a:rPr>
              <a:t>Secondary</a:t>
            </a:r>
            <a:endParaRPr lang="en-US" sz="1200" dirty="0"/>
          </a:p>
        </p:txBody>
      </p:sp>
      <p:sp>
        <p:nvSpPr>
          <p:cNvPr id="25" name="Russia Senior"/>
          <p:cNvSpPr/>
          <p:nvPr/>
        </p:nvSpPr>
        <p:spPr>
          <a:xfrm>
            <a:off x="6951592" y="2606040"/>
            <a:ext cx="748732" cy="731520"/>
          </a:xfrm>
          <a:prstGeom prst="roundRect">
            <a:avLst>
              <a:gd name="adj" fmla="val 12500"/>
            </a:avLst>
          </a:prstGeom>
          <a:solidFill>
            <a:srgbClr val="A9A6EE"/>
          </a:solidFill>
          <a:ln w="12700">
            <a:solidFill>
              <a:srgbClr val="A9A6EE"/>
            </a:solidFill>
            <a:prstDash val="solid"/>
          </a:ln>
        </p:spPr>
      </p:sp>
      <p:sp>
        <p:nvSpPr>
          <p:cNvPr id="26" name="Text 24"/>
          <p:cNvSpPr txBox="1"/>
          <p:nvPr/>
        </p:nvSpPr>
        <p:spPr>
          <a:xfrm>
            <a:off x="6969880" y="2606040"/>
            <a:ext cx="712156" cy="731520"/>
          </a:xfrm>
          <a:prstGeom prst="rect">
            <a:avLst/>
          </a:prstGeom>
          <a:noFill/>
          <a:ln/>
        </p:spPr>
        <p:txBody>
          <a:bodyPr wrap="square" lIns="0" tIns="0" rIns="0" bIns="0" rtlCol="0" anchor="ctr">
            <a:normAutofit/>
          </a:bodyPr>
          <a:lstStyle/>
          <a:p>
            <a:pPr algn="ctr" indent="0" marL="0">
              <a:buNone/>
            </a:pPr>
            <a:r>
              <a:rPr lang="en-US" sz="1200" b="1" dirty="0">
                <a:solidFill>
                  <a:schemeClr val="tx1"/>
                </a:solidFill>
                <a:latin typeface="Calibri" pitchFamily="34" charset="0"/>
                <a:ea typeface="Calibri" pitchFamily="34" charset="-122"/>
                <a:cs typeface="Calibri" pitchFamily="34" charset="-120"/>
              </a:rPr>
              <a:t>Senior</a:t>
            </a:r>
            <a:endParaRPr lang="en-US" sz="1200" dirty="0"/>
          </a:p>
        </p:txBody>
      </p:sp>
      <p:sp>
        <p:nvSpPr>
          <p:cNvPr id="27" name="Russia University"/>
          <p:cNvSpPr/>
          <p:nvPr/>
        </p:nvSpPr>
        <p:spPr>
          <a:xfrm>
            <a:off x="7736900" y="2606040"/>
            <a:ext cx="748732" cy="731520"/>
          </a:xfrm>
          <a:prstGeom prst="roundRect">
            <a:avLst>
              <a:gd name="adj" fmla="val 12500"/>
            </a:avLst>
          </a:prstGeom>
          <a:solidFill>
            <a:srgbClr val="F4776A"/>
          </a:solidFill>
          <a:ln w="12700">
            <a:solidFill>
              <a:srgbClr val="F4776A"/>
            </a:solidFill>
            <a:prstDash val="solid"/>
          </a:ln>
        </p:spPr>
      </p:sp>
      <p:sp>
        <p:nvSpPr>
          <p:cNvPr id="28" name="Text 26"/>
          <p:cNvSpPr txBox="1"/>
          <p:nvPr/>
        </p:nvSpPr>
        <p:spPr>
          <a:xfrm>
            <a:off x="7755188" y="2606040"/>
            <a:ext cx="712156" cy="731520"/>
          </a:xfrm>
          <a:prstGeom prst="rect">
            <a:avLst/>
          </a:prstGeom>
          <a:noFill/>
          <a:ln/>
        </p:spPr>
        <p:txBody>
          <a:bodyPr wrap="square" lIns="0" tIns="0" rIns="0" bIns="0" rtlCol="0" anchor="ctr">
            <a:normAutofit/>
          </a:bodyPr>
          <a:lstStyle/>
          <a:p>
            <a:pPr algn="ctr" indent="0" marL="0">
              <a:buNone/>
            </a:pPr>
            <a:r>
              <a:rPr lang="en-US" sz="1200" b="1" dirty="0">
                <a:solidFill>
                  <a:schemeClr val="tx1"/>
                </a:solidFill>
                <a:latin typeface="Calibri" pitchFamily="34" charset="0"/>
                <a:ea typeface="Calibri" pitchFamily="34" charset="-122"/>
                <a:cs typeface="Calibri" pitchFamily="34" charset="-120"/>
              </a:rPr>
              <a:t>University</a:t>
            </a:r>
            <a:endParaRPr lang="en-US" sz="1200" dirty="0"/>
          </a:p>
        </p:txBody>
      </p:sp>
      <p:sp>
        <p:nvSpPr>
          <p:cNvPr id="29" name="Age axis"/>
          <p:cNvSpPr/>
          <p:nvPr/>
        </p:nvSpPr>
        <p:spPr>
          <a:xfrm>
            <a:off x="1828800" y="3657600"/>
            <a:ext cx="6675120" cy="0"/>
          </a:xfrm>
          <a:prstGeom prst="line">
            <a:avLst/>
          </a:prstGeom>
          <a:noFill/>
          <a:ln w="15875">
            <a:solidFill>
              <a:srgbClr val="6E6460"/>
            </a:solidFill>
            <a:prstDash val="solid"/>
          </a:ln>
        </p:spPr>
      </p:sp>
      <p:sp>
        <p:nvSpPr>
          <p:cNvPr id="30" name="Tick 3"/>
          <p:cNvSpPr/>
          <p:nvPr/>
        </p:nvSpPr>
        <p:spPr>
          <a:xfrm>
            <a:off x="1828800" y="3602736"/>
            <a:ext cx="0" cy="109728"/>
          </a:xfrm>
          <a:prstGeom prst="line">
            <a:avLst/>
          </a:prstGeom>
          <a:noFill/>
          <a:ln w="15875">
            <a:solidFill>
              <a:srgbClr val="6E6460"/>
            </a:solidFill>
            <a:prstDash val="solid"/>
          </a:ln>
        </p:spPr>
      </p:sp>
      <p:sp>
        <p:nvSpPr>
          <p:cNvPr id="31" name="Text 29"/>
          <p:cNvSpPr txBox="1"/>
          <p:nvPr/>
        </p:nvSpPr>
        <p:spPr>
          <a:xfrm>
            <a:off x="1600200" y="3730752"/>
            <a:ext cx="457200" cy="274320"/>
          </a:xfrm>
          <a:prstGeom prst="rect">
            <a:avLst/>
          </a:prstGeom>
          <a:noFill/>
          <a:ln/>
        </p:spPr>
        <p:txBody>
          <a:bodyPr wrap="square" lIns="0" tIns="0" rIns="0" bIns="0" rtlCol="0" anchor="ctr"/>
          <a:lstStyle/>
          <a:p>
            <a:pPr algn="ctr" indent="0" marL="0">
              <a:buNone/>
            </a:pPr>
            <a:r>
              <a:rPr lang="en-US" sz="1200" dirty="0">
                <a:solidFill>
                  <a:srgbClr val="6E6460"/>
                </a:solidFill>
                <a:latin typeface="Calibri" pitchFamily="34" charset="0"/>
                <a:ea typeface="Calibri" pitchFamily="34" charset="-122"/>
                <a:cs typeface="Calibri" pitchFamily="34" charset="-120"/>
              </a:rPr>
              <a:t>3</a:t>
            </a:r>
            <a:endParaRPr lang="en-US" sz="1200" dirty="0"/>
          </a:p>
        </p:txBody>
      </p:sp>
      <p:sp>
        <p:nvSpPr>
          <p:cNvPr id="32" name="Tick 5"/>
          <p:cNvSpPr/>
          <p:nvPr/>
        </p:nvSpPr>
        <p:spPr>
          <a:xfrm>
            <a:off x="2614108" y="3602736"/>
            <a:ext cx="0" cy="109728"/>
          </a:xfrm>
          <a:prstGeom prst="line">
            <a:avLst/>
          </a:prstGeom>
          <a:noFill/>
          <a:ln w="15875">
            <a:solidFill>
              <a:srgbClr val="6E6460"/>
            </a:solidFill>
            <a:prstDash val="solid"/>
          </a:ln>
        </p:spPr>
      </p:sp>
      <p:sp>
        <p:nvSpPr>
          <p:cNvPr id="33" name="Text 31"/>
          <p:cNvSpPr txBox="1"/>
          <p:nvPr/>
        </p:nvSpPr>
        <p:spPr>
          <a:xfrm>
            <a:off x="2385508" y="3730752"/>
            <a:ext cx="457200" cy="274320"/>
          </a:xfrm>
          <a:prstGeom prst="rect">
            <a:avLst/>
          </a:prstGeom>
          <a:noFill/>
          <a:ln/>
        </p:spPr>
        <p:txBody>
          <a:bodyPr wrap="square" lIns="0" tIns="0" rIns="0" bIns="0" rtlCol="0" anchor="ctr"/>
          <a:lstStyle/>
          <a:p>
            <a:pPr algn="ctr" indent="0" marL="0">
              <a:buNone/>
            </a:pPr>
            <a:r>
              <a:rPr lang="en-US" sz="1200" dirty="0">
                <a:solidFill>
                  <a:srgbClr val="6E6460"/>
                </a:solidFill>
                <a:latin typeface="Calibri" pitchFamily="34" charset="0"/>
                <a:ea typeface="Calibri" pitchFamily="34" charset="-122"/>
                <a:cs typeface="Calibri" pitchFamily="34" charset="-120"/>
              </a:rPr>
              <a:t>5</a:t>
            </a:r>
            <a:endParaRPr lang="en-US" sz="1200" dirty="0"/>
          </a:p>
        </p:txBody>
      </p:sp>
      <p:sp>
        <p:nvSpPr>
          <p:cNvPr id="34" name="Tick 7"/>
          <p:cNvSpPr/>
          <p:nvPr/>
        </p:nvSpPr>
        <p:spPr>
          <a:xfrm>
            <a:off x="3399416" y="3602736"/>
            <a:ext cx="0" cy="109728"/>
          </a:xfrm>
          <a:prstGeom prst="line">
            <a:avLst/>
          </a:prstGeom>
          <a:noFill/>
          <a:ln w="15875">
            <a:solidFill>
              <a:srgbClr val="6E6460"/>
            </a:solidFill>
            <a:prstDash val="solid"/>
          </a:ln>
        </p:spPr>
      </p:sp>
      <p:sp>
        <p:nvSpPr>
          <p:cNvPr id="35" name="Text 33"/>
          <p:cNvSpPr txBox="1"/>
          <p:nvPr/>
        </p:nvSpPr>
        <p:spPr>
          <a:xfrm>
            <a:off x="3170816" y="3730752"/>
            <a:ext cx="457200" cy="274320"/>
          </a:xfrm>
          <a:prstGeom prst="rect">
            <a:avLst/>
          </a:prstGeom>
          <a:noFill/>
          <a:ln/>
        </p:spPr>
        <p:txBody>
          <a:bodyPr wrap="square" lIns="0" tIns="0" rIns="0" bIns="0" rtlCol="0" anchor="ctr"/>
          <a:lstStyle/>
          <a:p>
            <a:pPr algn="ctr" indent="0" marL="0">
              <a:buNone/>
            </a:pPr>
            <a:r>
              <a:rPr lang="en-US" sz="1200" dirty="0">
                <a:solidFill>
                  <a:srgbClr val="6E6460"/>
                </a:solidFill>
                <a:latin typeface="Calibri" pitchFamily="34" charset="0"/>
                <a:ea typeface="Calibri" pitchFamily="34" charset="-122"/>
                <a:cs typeface="Calibri" pitchFamily="34" charset="-120"/>
              </a:rPr>
              <a:t>7</a:t>
            </a:r>
            <a:endParaRPr lang="en-US" sz="1200" dirty="0"/>
          </a:p>
        </p:txBody>
      </p:sp>
      <p:sp>
        <p:nvSpPr>
          <p:cNvPr id="36" name="Tick 11"/>
          <p:cNvSpPr/>
          <p:nvPr/>
        </p:nvSpPr>
        <p:spPr>
          <a:xfrm>
            <a:off x="4970033" y="3602736"/>
            <a:ext cx="0" cy="109728"/>
          </a:xfrm>
          <a:prstGeom prst="line">
            <a:avLst/>
          </a:prstGeom>
          <a:noFill/>
          <a:ln w="15875">
            <a:solidFill>
              <a:srgbClr val="6E6460"/>
            </a:solidFill>
            <a:prstDash val="solid"/>
          </a:ln>
        </p:spPr>
      </p:sp>
      <p:sp>
        <p:nvSpPr>
          <p:cNvPr id="37" name="Text 35"/>
          <p:cNvSpPr txBox="1"/>
          <p:nvPr/>
        </p:nvSpPr>
        <p:spPr>
          <a:xfrm>
            <a:off x="4741433" y="3730752"/>
            <a:ext cx="457200" cy="274320"/>
          </a:xfrm>
          <a:prstGeom prst="rect">
            <a:avLst/>
          </a:prstGeom>
          <a:noFill/>
          <a:ln/>
        </p:spPr>
        <p:txBody>
          <a:bodyPr wrap="square" lIns="0" tIns="0" rIns="0" bIns="0" rtlCol="0" anchor="ctr"/>
          <a:lstStyle/>
          <a:p>
            <a:pPr algn="ctr" indent="0" marL="0">
              <a:buNone/>
            </a:pPr>
            <a:r>
              <a:rPr lang="en-US" sz="1200" dirty="0">
                <a:solidFill>
                  <a:srgbClr val="6E6460"/>
                </a:solidFill>
                <a:latin typeface="Calibri" pitchFamily="34" charset="0"/>
                <a:ea typeface="Calibri" pitchFamily="34" charset="-122"/>
                <a:cs typeface="Calibri" pitchFamily="34" charset="-120"/>
              </a:rPr>
              <a:t>11</a:t>
            </a:r>
            <a:endParaRPr lang="en-US" sz="1200" dirty="0"/>
          </a:p>
        </p:txBody>
      </p:sp>
      <p:sp>
        <p:nvSpPr>
          <p:cNvPr id="38" name="Tick 16"/>
          <p:cNvSpPr/>
          <p:nvPr/>
        </p:nvSpPr>
        <p:spPr>
          <a:xfrm>
            <a:off x="6933304" y="3602736"/>
            <a:ext cx="0" cy="109728"/>
          </a:xfrm>
          <a:prstGeom prst="line">
            <a:avLst/>
          </a:prstGeom>
          <a:noFill/>
          <a:ln w="15875">
            <a:solidFill>
              <a:srgbClr val="6E6460"/>
            </a:solidFill>
            <a:prstDash val="solid"/>
          </a:ln>
        </p:spPr>
      </p:sp>
      <p:sp>
        <p:nvSpPr>
          <p:cNvPr id="39" name="Text 37"/>
          <p:cNvSpPr txBox="1"/>
          <p:nvPr/>
        </p:nvSpPr>
        <p:spPr>
          <a:xfrm>
            <a:off x="6704704" y="3730752"/>
            <a:ext cx="457200" cy="274320"/>
          </a:xfrm>
          <a:prstGeom prst="rect">
            <a:avLst/>
          </a:prstGeom>
          <a:noFill/>
          <a:ln/>
        </p:spPr>
        <p:txBody>
          <a:bodyPr wrap="square" lIns="0" tIns="0" rIns="0" bIns="0" rtlCol="0" anchor="ctr"/>
          <a:lstStyle/>
          <a:p>
            <a:pPr algn="ctr" indent="0" marL="0">
              <a:buNone/>
            </a:pPr>
            <a:r>
              <a:rPr lang="en-US" sz="1200" dirty="0">
                <a:solidFill>
                  <a:srgbClr val="6E6460"/>
                </a:solidFill>
                <a:latin typeface="Calibri" pitchFamily="34" charset="0"/>
                <a:ea typeface="Calibri" pitchFamily="34" charset="-122"/>
                <a:cs typeface="Calibri" pitchFamily="34" charset="-120"/>
              </a:rPr>
              <a:t>16</a:t>
            </a:r>
            <a:endParaRPr lang="en-US" sz="1200" dirty="0"/>
          </a:p>
        </p:txBody>
      </p:sp>
      <p:sp>
        <p:nvSpPr>
          <p:cNvPr id="40" name="Tick 18"/>
          <p:cNvSpPr/>
          <p:nvPr/>
        </p:nvSpPr>
        <p:spPr>
          <a:xfrm>
            <a:off x="7718612" y="3602736"/>
            <a:ext cx="0" cy="109728"/>
          </a:xfrm>
          <a:prstGeom prst="line">
            <a:avLst/>
          </a:prstGeom>
          <a:noFill/>
          <a:ln w="15875">
            <a:solidFill>
              <a:srgbClr val="6E6460"/>
            </a:solidFill>
            <a:prstDash val="solid"/>
          </a:ln>
        </p:spPr>
      </p:sp>
      <p:sp>
        <p:nvSpPr>
          <p:cNvPr id="41" name="Text 39"/>
          <p:cNvSpPr txBox="1"/>
          <p:nvPr/>
        </p:nvSpPr>
        <p:spPr>
          <a:xfrm>
            <a:off x="7490012" y="3730752"/>
            <a:ext cx="457200" cy="274320"/>
          </a:xfrm>
          <a:prstGeom prst="rect">
            <a:avLst/>
          </a:prstGeom>
          <a:noFill/>
          <a:ln/>
        </p:spPr>
        <p:txBody>
          <a:bodyPr wrap="square" lIns="0" tIns="0" rIns="0" bIns="0" rtlCol="0" anchor="ctr"/>
          <a:lstStyle/>
          <a:p>
            <a:pPr algn="ctr" indent="0" marL="0">
              <a:buNone/>
            </a:pPr>
            <a:r>
              <a:rPr lang="en-US" sz="1200" dirty="0">
                <a:solidFill>
                  <a:srgbClr val="6E6460"/>
                </a:solidFill>
                <a:latin typeface="Calibri" pitchFamily="34" charset="0"/>
                <a:ea typeface="Calibri" pitchFamily="34" charset="-122"/>
                <a:cs typeface="Calibri" pitchFamily="34" charset="-120"/>
              </a:rPr>
              <a:t>18</a:t>
            </a:r>
            <a:endParaRPr lang="en-US" sz="1200" dirty="0"/>
          </a:p>
        </p:txBody>
      </p:sp>
      <p:sp>
        <p:nvSpPr>
          <p:cNvPr id="42" name="Text 40"/>
          <p:cNvSpPr txBox="1"/>
          <p:nvPr/>
        </p:nvSpPr>
        <p:spPr>
          <a:xfrm>
            <a:off x="7955280" y="3730752"/>
            <a:ext cx="548640" cy="274320"/>
          </a:xfrm>
          <a:prstGeom prst="rect">
            <a:avLst/>
          </a:prstGeom>
          <a:noFill/>
          <a:ln/>
        </p:spPr>
        <p:txBody>
          <a:bodyPr wrap="square" lIns="0" tIns="0" rIns="0" bIns="0" rtlCol="0" anchor="ctr"/>
          <a:lstStyle/>
          <a:p>
            <a:pPr algn="r" indent="0" marL="0">
              <a:buNone/>
            </a:pPr>
            <a:r>
              <a:rPr lang="en-US" sz="1200" i="1" dirty="0">
                <a:solidFill>
                  <a:srgbClr val="6E6460"/>
                </a:solidFill>
                <a:latin typeface="Calibri" pitchFamily="34" charset="0"/>
                <a:ea typeface="Calibri" pitchFamily="34" charset="-122"/>
                <a:cs typeface="Calibri" pitchFamily="34" charset="-120"/>
              </a:rPr>
              <a:t>age</a:t>
            </a:r>
            <a:endParaRPr lang="en-US" sz="1200" dirty="0"/>
          </a:p>
        </p:txBody>
      </p:sp>
      <p:sp>
        <p:nvSpPr>
          <p:cNvPr id="43" name="Text 41"/>
          <p:cNvSpPr txBox="1"/>
          <p:nvPr/>
        </p:nvSpPr>
        <p:spPr>
          <a:xfrm>
            <a:off x="1828800" y="4160520"/>
            <a:ext cx="6675120" cy="365760"/>
          </a:xfrm>
          <a:prstGeom prst="rect">
            <a:avLst/>
          </a:prstGeom>
          <a:noFill/>
          <a:ln/>
        </p:spPr>
        <p:txBody>
          <a:bodyPr wrap="square" lIns="0" tIns="0" rIns="0" bIns="0" rtlCol="0" anchor="ctr"/>
          <a:lstStyle/>
          <a:p>
            <a:pPr indent="0" marL="0">
              <a:buNone/>
            </a:pPr>
            <a:r>
              <a:rPr lang="en-US" sz="1500" i="1" dirty="0">
                <a:solidFill>
                  <a:schemeClr val="tx2"/>
                </a:solidFill>
                <a:latin typeface="Calibri" pitchFamily="34" charset="0"/>
                <a:ea typeface="Calibri" pitchFamily="34" charset="-122"/>
                <a:cs typeface="Calibri" pitchFamily="34" charset="-120"/>
              </a:rPr>
              <a:t>Look: secondary school starts at 11 in both countries!</a:t>
            </a:r>
            <a:endParaRPr lang="en-US" sz="15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460"/>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949440" cy="68580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How similar is it?</a:t>
            </a:r>
            <a:endParaRPr lang="en-US" sz="3200" dirty="0"/>
          </a:p>
        </p:txBody>
      </p:sp>
      <p:sp>
        <p:nvSpPr>
          <p:cNvPr id="3" name="Similar card"/>
          <p:cNvSpPr/>
          <p:nvPr/>
        </p:nvSpPr>
        <p:spPr>
          <a:xfrm>
            <a:off x="457200" y="1188720"/>
            <a:ext cx="3977640" cy="3108960"/>
          </a:xfrm>
          <a:prstGeom prst="roundRect">
            <a:avLst>
              <a:gd name="adj" fmla="val 4412"/>
            </a:avLst>
          </a:prstGeom>
          <a:solidFill>
            <a:srgbClr val="E3F5EC"/>
          </a:solidFill>
          <a:ln w="12700">
            <a:solidFill>
              <a:srgbClr val="E3F5EC"/>
            </a:solidFill>
            <a:prstDash val="solid"/>
          </a:ln>
          <a:effectLst>
            <a:outerShdw sx="100000" sy="100000" kx="0" ky="0" algn="bl" rotWithShape="0" blurRad="101600" dist="50800" dir="5400000">
              <a:srgbClr val="3B2A1F">
                <a:alpha val="12000"/>
              </a:srgbClr>
            </a:outerShdw>
          </a:effectLst>
        </p:spPr>
      </p:sp>
      <p:pic>
        <p:nvPicPr>
          <p:cNvPr id="4" name="Similar icon" descr="preencoded.png">    </p:cNvPr>
          <p:cNvPicPr>
            <a:picLocks noChangeAspect="1"/>
          </p:cNvPicPr>
          <p:nvPr/>
        </p:nvPicPr>
        <p:blipFill>
          <a:blip r:embed="rId1"/>
          <a:stretch>
            <a:fillRect/>
          </a:stretch>
        </p:blipFill>
        <p:spPr>
          <a:xfrm>
            <a:off x="731520" y="1353312"/>
            <a:ext cx="502920" cy="502920"/>
          </a:xfrm>
          <a:prstGeom prst="rect">
            <a:avLst/>
          </a:prstGeom>
        </p:spPr>
      </p:pic>
      <p:sp>
        <p:nvSpPr>
          <p:cNvPr id="5" name="Text 2"/>
          <p:cNvSpPr txBox="1"/>
          <p:nvPr/>
        </p:nvSpPr>
        <p:spPr>
          <a:xfrm>
            <a:off x="1371600" y="1353312"/>
            <a:ext cx="2743200" cy="50292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Similar</a:t>
            </a:r>
            <a:endParaRPr lang="en-US" sz="2200" dirty="0"/>
          </a:p>
        </p:txBody>
      </p:sp>
      <p:sp>
        <p:nvSpPr>
          <p:cNvPr id="6" name="Text 3"/>
          <p:cNvSpPr txBox="1"/>
          <p:nvPr/>
        </p:nvSpPr>
        <p:spPr>
          <a:xfrm>
            <a:off x="731520" y="2057400"/>
            <a:ext cx="3520440" cy="21031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latin typeface="Calibri" pitchFamily="34" charset="0"/>
                <a:ea typeface="Calibri" pitchFamily="34" charset="-122"/>
                <a:cs typeface="Calibri" pitchFamily="34" charset="-120"/>
              </a:rPr>
              <a:t>Children go to secondary school at 11.</a:t>
            </a:r>
            <a:endParaRPr lang="en-US" sz="1600" dirty="0"/>
          </a:p>
          <a:p>
            <a:pPr marL="342900" indent="-342900">
              <a:spcAft>
                <a:spcPts val="1000"/>
              </a:spcAft>
              <a:buSzPct val="100000"/>
              <a:buChar char="•"/>
            </a:pPr>
            <a:r>
              <a:rPr lang="en-US" sz="1600" dirty="0">
                <a:solidFill>
                  <a:schemeClr val="tx1"/>
                </a:solidFill>
                <a:latin typeface="Calibri" pitchFamily="34" charset="0"/>
                <a:ea typeface="Calibri" pitchFamily="34" charset="-122"/>
                <a:cs typeface="Calibri" pitchFamily="34" charset="-120"/>
              </a:rPr>
              <a:t>Students take big exams at 16 and 18.</a:t>
            </a:r>
            <a:endParaRPr lang="en-US" sz="1600" dirty="0"/>
          </a:p>
          <a:p>
            <a:pPr marL="342900" indent="-342900">
              <a:spcAft>
                <a:spcPts val="1000"/>
              </a:spcAft>
              <a:buSzPct val="100000"/>
              <a:buChar char="•"/>
            </a:pPr>
            <a:r>
              <a:rPr lang="en-US" sz="1600" dirty="0">
                <a:solidFill>
                  <a:schemeClr val="tx1"/>
                </a:solidFill>
                <a:latin typeface="Calibri" pitchFamily="34" charset="0"/>
                <a:ea typeface="Calibri" pitchFamily="34" charset="-122"/>
                <a:cs typeface="Calibri" pitchFamily="34" charset="-120"/>
              </a:rPr>
              <a:t>After school, students can go to university.</a:t>
            </a:r>
            <a:endParaRPr lang="en-US" sz="1600" dirty="0"/>
          </a:p>
        </p:txBody>
      </p:sp>
      <p:sp>
        <p:nvSpPr>
          <p:cNvPr id="7" name="Different card"/>
          <p:cNvSpPr/>
          <p:nvPr/>
        </p:nvSpPr>
        <p:spPr>
          <a:xfrm>
            <a:off x="4709160" y="1188720"/>
            <a:ext cx="3977640" cy="3108960"/>
          </a:xfrm>
          <a:prstGeom prst="roundRect">
            <a:avLst>
              <a:gd name="adj" fmla="val 4412"/>
            </a:avLst>
          </a:prstGeom>
          <a:solidFill>
            <a:srgbClr val="FDE7E3"/>
          </a:solidFill>
          <a:ln w="12700">
            <a:solidFill>
              <a:srgbClr val="FDE7E3"/>
            </a:solidFill>
            <a:prstDash val="solid"/>
          </a:ln>
          <a:effectLst>
            <a:outerShdw sx="100000" sy="100000" kx="0" ky="0" algn="bl" rotWithShape="0" blurRad="101600" dist="50800" dir="5400000">
              <a:srgbClr val="3B2A1F">
                <a:alpha val="12000"/>
              </a:srgbClr>
            </a:outerShdw>
          </a:effectLst>
        </p:spPr>
      </p:sp>
      <p:pic>
        <p:nvPicPr>
          <p:cNvPr id="8" name="Different icon" descr="preencoded.png">    </p:cNvPr>
          <p:cNvPicPr>
            <a:picLocks noChangeAspect="1"/>
          </p:cNvPicPr>
          <p:nvPr/>
        </p:nvPicPr>
        <p:blipFill>
          <a:blip r:embed="rId2"/>
          <a:stretch>
            <a:fillRect/>
          </a:stretch>
        </p:blipFill>
        <p:spPr>
          <a:xfrm>
            <a:off x="4983480" y="1353312"/>
            <a:ext cx="502920" cy="502920"/>
          </a:xfrm>
          <a:prstGeom prst="rect">
            <a:avLst/>
          </a:prstGeom>
        </p:spPr>
      </p:pic>
      <p:sp>
        <p:nvSpPr>
          <p:cNvPr id="9" name="Text 5"/>
          <p:cNvSpPr txBox="1"/>
          <p:nvPr/>
        </p:nvSpPr>
        <p:spPr>
          <a:xfrm>
            <a:off x="5623560" y="1353312"/>
            <a:ext cx="2743200" cy="50292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Different</a:t>
            </a:r>
            <a:endParaRPr lang="en-US" sz="2200" dirty="0"/>
          </a:p>
        </p:txBody>
      </p:sp>
      <p:sp>
        <p:nvSpPr>
          <p:cNvPr id="10" name="Text 6"/>
          <p:cNvSpPr txBox="1"/>
          <p:nvPr/>
        </p:nvSpPr>
        <p:spPr>
          <a:xfrm>
            <a:off x="4983480" y="2057400"/>
            <a:ext cx="3520440" cy="21031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latin typeface="Calibri" pitchFamily="34" charset="0"/>
                <a:ea typeface="Calibri" pitchFamily="34" charset="-122"/>
                <a:cs typeface="Calibri" pitchFamily="34" charset="-120"/>
              </a:rPr>
              <a:t>England: school starts at 5. Russia: at 7.</a:t>
            </a:r>
            <a:endParaRPr lang="en-US" sz="1600" dirty="0"/>
          </a:p>
          <a:p>
            <a:pPr marL="342900" indent="-342900">
              <a:spcAft>
                <a:spcPts val="1000"/>
              </a:spcAft>
              <a:buSzPct val="100000"/>
              <a:buChar char="•"/>
            </a:pPr>
            <a:r>
              <a:rPr lang="en-US" sz="1600" dirty="0">
                <a:solidFill>
                  <a:schemeClr val="tx1"/>
                </a:solidFill>
                <a:latin typeface="Calibri" pitchFamily="34" charset="0"/>
                <a:ea typeface="Calibri" pitchFamily="34" charset="-122"/>
                <a:cs typeface="Calibri" pitchFamily="34" charset="-120"/>
              </a:rPr>
              <a:t>Russia: Years 1–11 are often in one school.</a:t>
            </a:r>
            <a:endParaRPr lang="en-US" sz="1600" dirty="0"/>
          </a:p>
          <a:p>
            <a:pPr marL="342900" indent="-342900">
              <a:spcAft>
                <a:spcPts val="1000"/>
              </a:spcAft>
              <a:buSzPct val="100000"/>
              <a:buChar char="•"/>
            </a:pPr>
            <a:r>
              <a:rPr lang="en-US" sz="1600" dirty="0">
                <a:solidFill>
                  <a:schemeClr val="tx1"/>
                </a:solidFill>
                <a:latin typeface="Calibri" pitchFamily="34" charset="0"/>
                <a:ea typeface="Calibri" pitchFamily="34" charset="-122"/>
                <a:cs typeface="Calibri" pitchFamily="34" charset="-120"/>
              </a:rPr>
              <a:t>England: Sixth Form College at 16. Russia: Years 10–11 at school or college.</a:t>
            </a:r>
            <a:endParaRPr lang="en-US" sz="16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460"/>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949440" cy="68580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What school am I at?</a:t>
            </a:r>
            <a:endParaRPr lang="en-US" sz="3200" dirty="0"/>
          </a:p>
        </p:txBody>
      </p:sp>
      <p:sp>
        <p:nvSpPr>
          <p:cNvPr id="3" name="Photo frame"/>
          <p:cNvSpPr/>
          <p:nvPr/>
        </p:nvSpPr>
        <p:spPr>
          <a:xfrm>
            <a:off x="457200" y="1188720"/>
            <a:ext cx="2743200" cy="3291840"/>
          </a:xfrm>
          <a:prstGeom prst="roundRect">
            <a:avLst>
              <a:gd name="adj" fmla="val 6667"/>
            </a:avLst>
          </a:prstGeom>
          <a:solidFill>
            <a:srgbClr val="FFFFFF"/>
          </a:solidFill>
          <a:ln w="25400">
            <a:solidFill>
              <a:srgbClr val="A9A6EE"/>
            </a:solidFill>
            <a:prstDash val="dash"/>
          </a:ln>
        </p:spPr>
      </p:sp>
      <p:pic>
        <p:nvPicPr>
          <p:cNvPr id="4" name="Student" descr="preencoded.png">    </p:cNvPr>
          <p:cNvPicPr>
            <a:picLocks noChangeAspect="1"/>
          </p:cNvPicPr>
          <p:nvPr/>
        </p:nvPicPr>
        <p:blipFill>
          <a:blip r:embed="rId1"/>
          <a:stretch>
            <a:fillRect/>
          </a:stretch>
        </p:blipFill>
        <p:spPr>
          <a:xfrm>
            <a:off x="1188720" y="1874520"/>
            <a:ext cx="1280160" cy="1280160"/>
          </a:xfrm>
          <a:prstGeom prst="rect">
            <a:avLst/>
          </a:prstGeom>
        </p:spPr>
      </p:pic>
      <p:sp>
        <p:nvSpPr>
          <p:cNvPr id="5" name="Text 2"/>
          <p:cNvSpPr txBox="1"/>
          <p:nvPr/>
        </p:nvSpPr>
        <p:spPr>
          <a:xfrm>
            <a:off x="457200" y="3337560"/>
            <a:ext cx="2743200" cy="365760"/>
          </a:xfrm>
          <a:prstGeom prst="rect">
            <a:avLst/>
          </a:prstGeom>
          <a:noFill/>
          <a:ln/>
        </p:spPr>
        <p:txBody>
          <a:bodyPr wrap="square" lIns="0" tIns="0" rIns="0" bIns="0" rtlCol="0" anchor="ctr"/>
          <a:lstStyle/>
          <a:p>
            <a:pPr algn="ctr" indent="0" marL="0">
              <a:buNone/>
            </a:pPr>
            <a:r>
              <a:rPr lang="en-US" sz="1300" i="1" dirty="0">
                <a:solidFill>
                  <a:srgbClr val="6E6460"/>
                </a:solidFill>
                <a:latin typeface="Calibri" pitchFamily="34" charset="0"/>
                <a:ea typeface="Calibri" pitchFamily="34" charset="-122"/>
                <a:cs typeface="Calibri" pitchFamily="34" charset="-120"/>
              </a:rPr>
              <a:t>my photo here</a:t>
            </a:r>
            <a:endParaRPr lang="en-US" sz="1300" dirty="0"/>
          </a:p>
        </p:txBody>
      </p:sp>
      <p:sp>
        <p:nvSpPr>
          <p:cNvPr id="6" name="About me card"/>
          <p:cNvSpPr/>
          <p:nvPr/>
        </p:nvSpPr>
        <p:spPr>
          <a:xfrm>
            <a:off x="3566160" y="1188720"/>
            <a:ext cx="5120640" cy="3291840"/>
          </a:xfrm>
          <a:prstGeom prst="roundRect">
            <a:avLst>
              <a:gd name="adj" fmla="val 4167"/>
            </a:avLst>
          </a:prstGeom>
          <a:solidFill>
            <a:srgbClr val="FFFFFF"/>
          </a:solidFill>
          <a:ln w="12700">
            <a:solidFill>
              <a:srgbClr val="FFFFFF"/>
            </a:solidFill>
            <a:prstDash val="solid"/>
          </a:ln>
          <a:effectLst>
            <a:outerShdw sx="100000" sy="100000" kx="0" ky="0" algn="bl" rotWithShape="0" blurRad="101600" dist="50800" dir="5400000">
              <a:srgbClr val="3B2A1F">
                <a:alpha val="12000"/>
              </a:srgbClr>
            </a:outerShdw>
          </a:effectLst>
        </p:spPr>
      </p:sp>
      <p:sp>
        <p:nvSpPr>
          <p:cNvPr id="7" name="Text 4"/>
          <p:cNvSpPr txBox="1"/>
          <p:nvPr/>
        </p:nvSpPr>
        <p:spPr>
          <a:xfrm>
            <a:off x="3886200" y="1417320"/>
            <a:ext cx="4572000" cy="2834640"/>
          </a:xfrm>
          <a:prstGeom prst="rect">
            <a:avLst/>
          </a:prstGeom>
          <a:noFill/>
          <a:ln/>
        </p:spPr>
        <p:txBody>
          <a:bodyPr wrap="square" lIns="0" tIns="0" rIns="0" bIns="0" rtlCol="0" anchor="t"/>
          <a:lstStyle/>
          <a:p>
            <a:pPr indent="0" marL="0">
              <a:spcAft>
                <a:spcPts val="1200"/>
              </a:spcAft>
              <a:buNone/>
            </a:pPr>
            <a:r>
              <a:rPr lang="en-US" sz="2000" dirty="0">
                <a:solidFill>
                  <a:schemeClr val="tx1"/>
                </a:solidFill>
                <a:latin typeface="Calibri" pitchFamily="34" charset="0"/>
                <a:ea typeface="Calibri" pitchFamily="34" charset="-122"/>
                <a:cs typeface="Calibri" pitchFamily="34" charset="-120"/>
              </a:rPr>
              <a:t>My name is </a:t>
            </a:r>
            <a:pPr indent="0" marL="0">
              <a:spcAft>
                <a:spcPts val="1200"/>
              </a:spcAft>
              <a:buNone/>
            </a:pPr>
            <a:r>
              <a:rPr lang="en-US" sz="2000" b="1" dirty="0">
                <a:solidFill>
                  <a:schemeClr val="accent6"/>
                </a:solidFill>
                <a:latin typeface="Calibri" pitchFamily="34" charset="0"/>
                <a:ea typeface="Calibri" pitchFamily="34" charset="-122"/>
                <a:cs typeface="Calibri" pitchFamily="34" charset="-120"/>
              </a:rPr>
              <a:t>__________</a:t>
            </a:r>
            <a:pPr indent="0" marL="0">
              <a:spcAft>
                <a:spcPts val="1200"/>
              </a:spcAft>
              <a:buNone/>
            </a:pPr>
            <a:r>
              <a:rPr lang="en-US" sz="2000" dirty="0">
                <a:solidFill>
                  <a:schemeClr val="tx1"/>
                </a:solidFill>
                <a:latin typeface="Calibri" pitchFamily="34" charset="0"/>
                <a:ea typeface="Calibri" pitchFamily="34" charset="-122"/>
                <a:cs typeface="Calibri" pitchFamily="34" charset="-120"/>
              </a:rPr>
              <a:t>.</a:t>
            </a:r>
            <a:endParaRPr lang="en-US" sz="2000" dirty="0"/>
          </a:p>
          <a:p>
            <a:pPr indent="0" marL="0">
              <a:spcAft>
                <a:spcPts val="1200"/>
              </a:spcAft>
              <a:buNone/>
            </a:pPr>
            <a:r>
              <a:rPr lang="en-US" sz="2000" dirty="0">
                <a:solidFill>
                  <a:schemeClr val="tx1"/>
                </a:solidFill>
                <a:latin typeface="Calibri" pitchFamily="34" charset="0"/>
                <a:ea typeface="Calibri" pitchFamily="34" charset="-122"/>
                <a:cs typeface="Calibri" pitchFamily="34" charset="-120"/>
              </a:rPr>
              <a:t>I'm </a:t>
            </a:r>
            <a:pPr indent="0" marL="0">
              <a:spcAft>
                <a:spcPts val="1200"/>
              </a:spcAft>
              <a:buNone/>
            </a:pPr>
            <a:r>
              <a:rPr lang="en-US" sz="2000" b="1" dirty="0">
                <a:solidFill>
                  <a:schemeClr val="accent6"/>
                </a:solidFill>
                <a:latin typeface="Calibri" pitchFamily="34" charset="0"/>
                <a:ea typeface="Calibri" pitchFamily="34" charset="-122"/>
                <a:cs typeface="Calibri" pitchFamily="34" charset="-120"/>
              </a:rPr>
              <a:t>____</a:t>
            </a:r>
            <a:pPr indent="0" marL="0">
              <a:spcAft>
                <a:spcPts val="1200"/>
              </a:spcAft>
              <a:buNone/>
            </a:pPr>
            <a:r>
              <a:rPr lang="en-US" sz="2000" dirty="0">
                <a:solidFill>
                  <a:schemeClr val="tx1"/>
                </a:solidFill>
                <a:latin typeface="Calibri" pitchFamily="34" charset="0"/>
                <a:ea typeface="Calibri" pitchFamily="34" charset="-122"/>
                <a:cs typeface="Calibri" pitchFamily="34" charset="-120"/>
              </a:rPr>
              <a:t> years old.</a:t>
            </a:r>
            <a:endParaRPr lang="en-US" sz="2000" dirty="0"/>
          </a:p>
          <a:p>
            <a:pPr indent="0" marL="0">
              <a:spcAft>
                <a:spcPts val="1200"/>
              </a:spcAft>
              <a:buNone/>
            </a:pPr>
            <a:r>
              <a:rPr lang="en-US" sz="2000" dirty="0">
                <a:solidFill>
                  <a:schemeClr val="tx1"/>
                </a:solidFill>
                <a:latin typeface="Calibri" pitchFamily="34" charset="0"/>
                <a:ea typeface="Calibri" pitchFamily="34" charset="-122"/>
                <a:cs typeface="Calibri" pitchFamily="34" charset="-120"/>
              </a:rPr>
              <a:t>I'm at </a:t>
            </a:r>
            <a:pPr indent="0" marL="0">
              <a:spcAft>
                <a:spcPts val="1200"/>
              </a:spcAft>
              <a:buNone/>
            </a:pPr>
            <a:r>
              <a:rPr lang="en-US" sz="2000" b="1" dirty="0">
                <a:solidFill>
                  <a:schemeClr val="tx2"/>
                </a:solidFill>
                <a:latin typeface="Calibri" pitchFamily="34" charset="0"/>
                <a:ea typeface="Calibri" pitchFamily="34" charset="-122"/>
                <a:cs typeface="Calibri" pitchFamily="34" charset="-120"/>
              </a:rPr>
              <a:t>secondary school</a:t>
            </a:r>
            <a:pPr indent="0" marL="0">
              <a:spcAft>
                <a:spcPts val="1200"/>
              </a:spcAft>
              <a:buNone/>
            </a:pPr>
            <a:r>
              <a:rPr lang="en-US" sz="2000" dirty="0">
                <a:solidFill>
                  <a:schemeClr val="tx1"/>
                </a:solidFill>
                <a:latin typeface="Calibri" pitchFamily="34" charset="0"/>
                <a:ea typeface="Calibri" pitchFamily="34" charset="-122"/>
                <a:cs typeface="Calibri" pitchFamily="34" charset="-120"/>
              </a:rPr>
              <a:t>.</a:t>
            </a:r>
            <a:endParaRPr lang="en-US" sz="2000" dirty="0"/>
          </a:p>
          <a:p>
            <a:pPr indent="0" marL="0">
              <a:spcAft>
                <a:spcPts val="1200"/>
              </a:spcAft>
              <a:buNone/>
            </a:pPr>
            <a:r>
              <a:rPr lang="en-US" sz="2000" dirty="0">
                <a:solidFill>
                  <a:schemeClr val="tx1"/>
                </a:solidFill>
                <a:latin typeface="Calibri" pitchFamily="34" charset="0"/>
                <a:ea typeface="Calibri" pitchFamily="34" charset="-122"/>
                <a:cs typeface="Calibri" pitchFamily="34" charset="-120"/>
              </a:rPr>
              <a:t>I'm in </a:t>
            </a:r>
            <a:pPr indent="0" marL="0">
              <a:spcAft>
                <a:spcPts val="1200"/>
              </a:spcAft>
              <a:buNone/>
            </a:pPr>
            <a:r>
              <a:rPr lang="en-US" sz="2000" b="1" dirty="0">
                <a:solidFill>
                  <a:schemeClr val="tx2"/>
                </a:solidFill>
                <a:latin typeface="Calibri" pitchFamily="34" charset="0"/>
                <a:ea typeface="Calibri" pitchFamily="34" charset="-122"/>
                <a:cs typeface="Calibri" pitchFamily="34" charset="-120"/>
              </a:rPr>
              <a:t>Year 5</a:t>
            </a:r>
            <a:pPr indent="0" marL="0">
              <a:spcAft>
                <a:spcPts val="1200"/>
              </a:spcAft>
              <a:buNone/>
            </a:pPr>
            <a:r>
              <a:rPr lang="en-US" sz="2000" dirty="0">
                <a:solidFill>
                  <a:schemeClr val="tx1"/>
                </a:solidFill>
                <a:latin typeface="Calibri" pitchFamily="34" charset="0"/>
                <a:ea typeface="Calibri" pitchFamily="34" charset="-122"/>
                <a:cs typeface="Calibri" pitchFamily="34" charset="-120"/>
              </a:rPr>
              <a:t>.</a:t>
            </a:r>
            <a:endParaRPr lang="en-US" sz="2000" dirty="0"/>
          </a:p>
          <a:p>
            <a:pPr indent="0" marL="0">
              <a:spcAft>
                <a:spcPts val="1200"/>
              </a:spcAft>
              <a:buNone/>
            </a:pPr>
            <a:r>
              <a:rPr lang="en-US" sz="2000" dirty="0">
                <a:solidFill>
                  <a:schemeClr val="tx1"/>
                </a:solidFill>
                <a:latin typeface="Calibri" pitchFamily="34" charset="0"/>
                <a:ea typeface="Calibri" pitchFamily="34" charset="-122"/>
                <a:cs typeface="Calibri" pitchFamily="34" charset="-120"/>
              </a:rPr>
              <a:t>My favourite subject is </a:t>
            </a:r>
            <a:pPr indent="0" marL="0">
              <a:spcAft>
                <a:spcPts val="1200"/>
              </a:spcAft>
              <a:buNone/>
            </a:pPr>
            <a:r>
              <a:rPr lang="en-US" sz="2000" b="1" dirty="0">
                <a:solidFill>
                  <a:schemeClr val="accent6"/>
                </a:solidFill>
                <a:latin typeface="Calibri" pitchFamily="34" charset="0"/>
                <a:ea typeface="Calibri" pitchFamily="34" charset="-122"/>
                <a:cs typeface="Calibri" pitchFamily="34" charset="-120"/>
              </a:rPr>
              <a:t>__________</a:t>
            </a:r>
            <a:pPr indent="0" marL="0">
              <a:spcAft>
                <a:spcPts val="1200"/>
              </a:spcAft>
              <a:buNone/>
            </a:pPr>
            <a:r>
              <a:rPr lang="en-US" sz="2000" dirty="0">
                <a:solidFill>
                  <a:schemeClr val="tx1"/>
                </a:solidFill>
                <a:latin typeface="Calibri" pitchFamily="34" charset="0"/>
                <a:ea typeface="Calibri" pitchFamily="34" charset="-122"/>
                <a:cs typeface="Calibri" pitchFamily="34" charset="-120"/>
              </a:rPr>
              <a:t>.</a:t>
            </a:r>
            <a:endParaRPr lang="en-US" sz="20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460"/>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949440" cy="68580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Words for my project</a:t>
            </a:r>
            <a:endParaRPr lang="en-US" sz="3200" dirty="0"/>
          </a:p>
        </p:txBody>
      </p:sp>
      <p:sp>
        <p:nvSpPr>
          <p:cNvPr id="3" name="Word kindergarten"/>
          <p:cNvSpPr/>
          <p:nvPr/>
        </p:nvSpPr>
        <p:spPr>
          <a:xfrm>
            <a:off x="457200" y="1188720"/>
            <a:ext cx="3977640" cy="914400"/>
          </a:xfrm>
          <a:prstGeom prst="roundRect">
            <a:avLst>
              <a:gd name="adj" fmla="val 15000"/>
            </a:avLst>
          </a:prstGeom>
          <a:solidFill>
            <a:srgbClr val="FFFFFF"/>
          </a:solidFill>
          <a:ln w="12700">
            <a:solidFill>
              <a:srgbClr val="FFFFFF"/>
            </a:solidFill>
            <a:prstDash val="solid"/>
          </a:ln>
          <a:effectLst>
            <a:outerShdw sx="100000" sy="100000" kx="0" ky="0" algn="bl" rotWithShape="0" blurRad="101600" dist="50800" dir="5400000">
              <a:srgbClr val="3B2A1F">
                <a:alpha val="12000"/>
              </a:srgbClr>
            </a:outerShdw>
          </a:effectLst>
        </p:spPr>
      </p:sp>
      <p:pic>
        <p:nvPicPr>
          <p:cNvPr id="4" name="Icon kindergarten" descr="preencoded.png">    </p:cNvPr>
          <p:cNvPicPr>
            <a:picLocks noChangeAspect="1"/>
          </p:cNvPicPr>
          <p:nvPr/>
        </p:nvPicPr>
        <p:blipFill>
          <a:blip r:embed="rId1"/>
          <a:stretch>
            <a:fillRect/>
          </a:stretch>
        </p:blipFill>
        <p:spPr>
          <a:xfrm>
            <a:off x="640080" y="1344168"/>
            <a:ext cx="603504" cy="603504"/>
          </a:xfrm>
          <a:prstGeom prst="rect">
            <a:avLst/>
          </a:prstGeom>
        </p:spPr>
      </p:pic>
      <p:sp>
        <p:nvSpPr>
          <p:cNvPr id="5" name="Text 2"/>
          <p:cNvSpPr txBox="1"/>
          <p:nvPr/>
        </p:nvSpPr>
        <p:spPr>
          <a:xfrm>
            <a:off x="1417320" y="1298448"/>
            <a:ext cx="2880360" cy="41148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kindergarten</a:t>
            </a:r>
            <a:endParaRPr lang="en-US" sz="1800" dirty="0"/>
          </a:p>
        </p:txBody>
      </p:sp>
      <p:sp>
        <p:nvSpPr>
          <p:cNvPr id="6" name="Text 3"/>
          <p:cNvSpPr txBox="1"/>
          <p:nvPr/>
        </p:nvSpPr>
        <p:spPr>
          <a:xfrm>
            <a:off x="1417320" y="1691640"/>
            <a:ext cx="2880360" cy="320040"/>
          </a:xfrm>
          <a:prstGeom prst="rect">
            <a:avLst/>
          </a:prstGeom>
          <a:noFill/>
          <a:ln/>
        </p:spPr>
        <p:txBody>
          <a:bodyPr wrap="square" lIns="0" tIns="0" rIns="0" bIns="0" rtlCol="0" anchor="ctr"/>
          <a:lstStyle/>
          <a:p>
            <a:pPr indent="0" marL="0">
              <a:buNone/>
            </a:pPr>
            <a:r>
              <a:rPr lang="en-US" sz="1400" dirty="0">
                <a:solidFill>
                  <a:srgbClr val="6E6460"/>
                </a:solidFill>
                <a:latin typeface="Calibri" pitchFamily="34" charset="0"/>
                <a:ea typeface="Calibri" pitchFamily="34" charset="-122"/>
                <a:cs typeface="Calibri" pitchFamily="34" charset="-120"/>
              </a:rPr>
              <a:t>детский сад</a:t>
            </a:r>
            <a:endParaRPr lang="en-US" sz="1400" dirty="0"/>
          </a:p>
        </p:txBody>
      </p:sp>
      <p:sp>
        <p:nvSpPr>
          <p:cNvPr id="7" name="Word primary school"/>
          <p:cNvSpPr/>
          <p:nvPr/>
        </p:nvSpPr>
        <p:spPr>
          <a:xfrm>
            <a:off x="4709160" y="1188720"/>
            <a:ext cx="3977640" cy="914400"/>
          </a:xfrm>
          <a:prstGeom prst="roundRect">
            <a:avLst>
              <a:gd name="adj" fmla="val 15000"/>
            </a:avLst>
          </a:prstGeom>
          <a:solidFill>
            <a:srgbClr val="FFFFFF"/>
          </a:solidFill>
          <a:ln w="12700">
            <a:solidFill>
              <a:srgbClr val="FFFFFF"/>
            </a:solidFill>
            <a:prstDash val="solid"/>
          </a:ln>
          <a:effectLst>
            <a:outerShdw sx="100000" sy="100000" kx="0" ky="0" algn="bl" rotWithShape="0" blurRad="101600" dist="50800" dir="5400000">
              <a:srgbClr val="3B2A1F">
                <a:alpha val="12000"/>
              </a:srgbClr>
            </a:outerShdw>
          </a:effectLst>
        </p:spPr>
      </p:sp>
      <p:pic>
        <p:nvPicPr>
          <p:cNvPr id="8" name="Icon primary school" descr="preencoded.png">    </p:cNvPr>
          <p:cNvPicPr>
            <a:picLocks noChangeAspect="1"/>
          </p:cNvPicPr>
          <p:nvPr/>
        </p:nvPicPr>
        <p:blipFill>
          <a:blip r:embed="rId2"/>
          <a:stretch>
            <a:fillRect/>
          </a:stretch>
        </p:blipFill>
        <p:spPr>
          <a:xfrm>
            <a:off x="4892040" y="1344168"/>
            <a:ext cx="603504" cy="603504"/>
          </a:xfrm>
          <a:prstGeom prst="rect">
            <a:avLst/>
          </a:prstGeom>
        </p:spPr>
      </p:pic>
      <p:sp>
        <p:nvSpPr>
          <p:cNvPr id="9" name="Text 5"/>
          <p:cNvSpPr txBox="1"/>
          <p:nvPr/>
        </p:nvSpPr>
        <p:spPr>
          <a:xfrm>
            <a:off x="5669280" y="1298448"/>
            <a:ext cx="2880360" cy="41148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primary school</a:t>
            </a:r>
            <a:endParaRPr lang="en-US" sz="1800" dirty="0"/>
          </a:p>
        </p:txBody>
      </p:sp>
      <p:sp>
        <p:nvSpPr>
          <p:cNvPr id="10" name="Text 6"/>
          <p:cNvSpPr txBox="1"/>
          <p:nvPr/>
        </p:nvSpPr>
        <p:spPr>
          <a:xfrm>
            <a:off x="5669280" y="1691640"/>
            <a:ext cx="2880360" cy="320040"/>
          </a:xfrm>
          <a:prstGeom prst="rect">
            <a:avLst/>
          </a:prstGeom>
          <a:noFill/>
          <a:ln/>
        </p:spPr>
        <p:txBody>
          <a:bodyPr wrap="square" lIns="0" tIns="0" rIns="0" bIns="0" rtlCol="0" anchor="ctr"/>
          <a:lstStyle/>
          <a:p>
            <a:pPr indent="0" marL="0">
              <a:buNone/>
            </a:pPr>
            <a:r>
              <a:rPr lang="en-US" sz="1400" dirty="0">
                <a:solidFill>
                  <a:srgbClr val="6E6460"/>
                </a:solidFill>
                <a:latin typeface="Calibri" pitchFamily="34" charset="0"/>
                <a:ea typeface="Calibri" pitchFamily="34" charset="-122"/>
                <a:cs typeface="Calibri" pitchFamily="34" charset="-120"/>
              </a:rPr>
              <a:t>начальная школа</a:t>
            </a:r>
            <a:endParaRPr lang="en-US" sz="1400" dirty="0"/>
          </a:p>
        </p:txBody>
      </p:sp>
      <p:sp>
        <p:nvSpPr>
          <p:cNvPr id="11" name="Word secondary school"/>
          <p:cNvSpPr/>
          <p:nvPr/>
        </p:nvSpPr>
        <p:spPr>
          <a:xfrm>
            <a:off x="457200" y="2304288"/>
            <a:ext cx="3977640" cy="914400"/>
          </a:xfrm>
          <a:prstGeom prst="roundRect">
            <a:avLst>
              <a:gd name="adj" fmla="val 15000"/>
            </a:avLst>
          </a:prstGeom>
          <a:solidFill>
            <a:srgbClr val="FFFFFF"/>
          </a:solidFill>
          <a:ln w="12700">
            <a:solidFill>
              <a:srgbClr val="FFFFFF"/>
            </a:solidFill>
            <a:prstDash val="solid"/>
          </a:ln>
          <a:effectLst>
            <a:outerShdw sx="100000" sy="100000" kx="0" ky="0" algn="bl" rotWithShape="0" blurRad="101600" dist="50800" dir="5400000">
              <a:srgbClr val="3B2A1F">
                <a:alpha val="12000"/>
              </a:srgbClr>
            </a:outerShdw>
          </a:effectLst>
        </p:spPr>
      </p:sp>
      <p:pic>
        <p:nvPicPr>
          <p:cNvPr id="12" name="Icon secondary school" descr="preencoded.png">    </p:cNvPr>
          <p:cNvPicPr>
            <a:picLocks noChangeAspect="1"/>
          </p:cNvPicPr>
          <p:nvPr/>
        </p:nvPicPr>
        <p:blipFill>
          <a:blip r:embed="rId3"/>
          <a:stretch>
            <a:fillRect/>
          </a:stretch>
        </p:blipFill>
        <p:spPr>
          <a:xfrm>
            <a:off x="640080" y="2459736"/>
            <a:ext cx="603504" cy="603504"/>
          </a:xfrm>
          <a:prstGeom prst="rect">
            <a:avLst/>
          </a:prstGeom>
        </p:spPr>
      </p:pic>
      <p:sp>
        <p:nvSpPr>
          <p:cNvPr id="13" name="Text 8"/>
          <p:cNvSpPr txBox="1"/>
          <p:nvPr/>
        </p:nvSpPr>
        <p:spPr>
          <a:xfrm>
            <a:off x="1417320" y="2414016"/>
            <a:ext cx="2880360" cy="41148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secondary school</a:t>
            </a:r>
            <a:endParaRPr lang="en-US" sz="1800" dirty="0"/>
          </a:p>
        </p:txBody>
      </p:sp>
      <p:sp>
        <p:nvSpPr>
          <p:cNvPr id="14" name="Text 9"/>
          <p:cNvSpPr txBox="1"/>
          <p:nvPr/>
        </p:nvSpPr>
        <p:spPr>
          <a:xfrm>
            <a:off x="1417320" y="2807208"/>
            <a:ext cx="2880360" cy="320040"/>
          </a:xfrm>
          <a:prstGeom prst="rect">
            <a:avLst/>
          </a:prstGeom>
          <a:noFill/>
          <a:ln/>
        </p:spPr>
        <p:txBody>
          <a:bodyPr wrap="square" lIns="0" tIns="0" rIns="0" bIns="0" rtlCol="0" anchor="ctr"/>
          <a:lstStyle/>
          <a:p>
            <a:pPr indent="0" marL="0">
              <a:buNone/>
            </a:pPr>
            <a:r>
              <a:rPr lang="en-US" sz="1400" dirty="0">
                <a:solidFill>
                  <a:srgbClr val="6E6460"/>
                </a:solidFill>
                <a:latin typeface="Calibri" pitchFamily="34" charset="0"/>
                <a:ea typeface="Calibri" pitchFamily="34" charset="-122"/>
                <a:cs typeface="Calibri" pitchFamily="34" charset="-120"/>
              </a:rPr>
              <a:t>средняя (основная) школа</a:t>
            </a:r>
            <a:endParaRPr lang="en-US" sz="1400" dirty="0"/>
          </a:p>
        </p:txBody>
      </p:sp>
      <p:sp>
        <p:nvSpPr>
          <p:cNvPr id="15" name="Word college"/>
          <p:cNvSpPr/>
          <p:nvPr/>
        </p:nvSpPr>
        <p:spPr>
          <a:xfrm>
            <a:off x="4709160" y="2304288"/>
            <a:ext cx="3977640" cy="914400"/>
          </a:xfrm>
          <a:prstGeom prst="roundRect">
            <a:avLst>
              <a:gd name="adj" fmla="val 15000"/>
            </a:avLst>
          </a:prstGeom>
          <a:solidFill>
            <a:srgbClr val="FFFFFF"/>
          </a:solidFill>
          <a:ln w="12700">
            <a:solidFill>
              <a:srgbClr val="FFFFFF"/>
            </a:solidFill>
            <a:prstDash val="solid"/>
          </a:ln>
          <a:effectLst>
            <a:outerShdw sx="100000" sy="100000" kx="0" ky="0" algn="bl" rotWithShape="0" blurRad="101600" dist="50800" dir="5400000">
              <a:srgbClr val="3B2A1F">
                <a:alpha val="12000"/>
              </a:srgbClr>
            </a:outerShdw>
          </a:effectLst>
        </p:spPr>
      </p:sp>
      <p:pic>
        <p:nvPicPr>
          <p:cNvPr id="16" name="Icon college" descr="preencoded.png">    </p:cNvPr>
          <p:cNvPicPr>
            <a:picLocks noChangeAspect="1"/>
          </p:cNvPicPr>
          <p:nvPr/>
        </p:nvPicPr>
        <p:blipFill>
          <a:blip r:embed="rId4"/>
          <a:stretch>
            <a:fillRect/>
          </a:stretch>
        </p:blipFill>
        <p:spPr>
          <a:xfrm>
            <a:off x="4892040" y="2459736"/>
            <a:ext cx="603504" cy="603504"/>
          </a:xfrm>
          <a:prstGeom prst="rect">
            <a:avLst/>
          </a:prstGeom>
        </p:spPr>
      </p:pic>
      <p:sp>
        <p:nvSpPr>
          <p:cNvPr id="17" name="Text 11"/>
          <p:cNvSpPr txBox="1"/>
          <p:nvPr/>
        </p:nvSpPr>
        <p:spPr>
          <a:xfrm>
            <a:off x="5669280" y="2414016"/>
            <a:ext cx="2880360" cy="41148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college</a:t>
            </a:r>
            <a:endParaRPr lang="en-US" sz="1800" dirty="0"/>
          </a:p>
        </p:txBody>
      </p:sp>
      <p:sp>
        <p:nvSpPr>
          <p:cNvPr id="18" name="Text 12"/>
          <p:cNvSpPr txBox="1"/>
          <p:nvPr/>
        </p:nvSpPr>
        <p:spPr>
          <a:xfrm>
            <a:off x="5669280" y="2807208"/>
            <a:ext cx="2880360" cy="320040"/>
          </a:xfrm>
          <a:prstGeom prst="rect">
            <a:avLst/>
          </a:prstGeom>
          <a:noFill/>
          <a:ln/>
        </p:spPr>
        <p:txBody>
          <a:bodyPr wrap="square" lIns="0" tIns="0" rIns="0" bIns="0" rtlCol="0" anchor="ctr"/>
          <a:lstStyle/>
          <a:p>
            <a:pPr indent="0" marL="0">
              <a:buNone/>
            </a:pPr>
            <a:r>
              <a:rPr lang="en-US" sz="1400" dirty="0">
                <a:solidFill>
                  <a:srgbClr val="6E6460"/>
                </a:solidFill>
                <a:latin typeface="Calibri" pitchFamily="34" charset="0"/>
                <a:ea typeface="Calibri" pitchFamily="34" charset="-122"/>
                <a:cs typeface="Calibri" pitchFamily="34" charset="-120"/>
              </a:rPr>
              <a:t>колледж</a:t>
            </a:r>
            <a:endParaRPr lang="en-US" sz="1400" dirty="0"/>
          </a:p>
        </p:txBody>
      </p:sp>
      <p:sp>
        <p:nvSpPr>
          <p:cNvPr id="19" name="Word university"/>
          <p:cNvSpPr/>
          <p:nvPr/>
        </p:nvSpPr>
        <p:spPr>
          <a:xfrm>
            <a:off x="457200" y="3419856"/>
            <a:ext cx="3977640" cy="914400"/>
          </a:xfrm>
          <a:prstGeom prst="roundRect">
            <a:avLst>
              <a:gd name="adj" fmla="val 15000"/>
            </a:avLst>
          </a:prstGeom>
          <a:solidFill>
            <a:srgbClr val="FFFFFF"/>
          </a:solidFill>
          <a:ln w="12700">
            <a:solidFill>
              <a:srgbClr val="FFFFFF"/>
            </a:solidFill>
            <a:prstDash val="solid"/>
          </a:ln>
          <a:effectLst>
            <a:outerShdw sx="100000" sy="100000" kx="0" ky="0" algn="bl" rotWithShape="0" blurRad="101600" dist="50800" dir="5400000">
              <a:srgbClr val="3B2A1F">
                <a:alpha val="12000"/>
              </a:srgbClr>
            </a:outerShdw>
          </a:effectLst>
        </p:spPr>
      </p:sp>
      <p:pic>
        <p:nvPicPr>
          <p:cNvPr id="20" name="Icon university" descr="preencoded.png">    </p:cNvPr>
          <p:cNvPicPr>
            <a:picLocks noChangeAspect="1"/>
          </p:cNvPicPr>
          <p:nvPr/>
        </p:nvPicPr>
        <p:blipFill>
          <a:blip r:embed="rId5"/>
          <a:stretch>
            <a:fillRect/>
          </a:stretch>
        </p:blipFill>
        <p:spPr>
          <a:xfrm>
            <a:off x="640080" y="3575304"/>
            <a:ext cx="603504" cy="603504"/>
          </a:xfrm>
          <a:prstGeom prst="rect">
            <a:avLst/>
          </a:prstGeom>
        </p:spPr>
      </p:pic>
      <p:sp>
        <p:nvSpPr>
          <p:cNvPr id="21" name="Text 14"/>
          <p:cNvSpPr txBox="1"/>
          <p:nvPr/>
        </p:nvSpPr>
        <p:spPr>
          <a:xfrm>
            <a:off x="1417320" y="3529584"/>
            <a:ext cx="2880360" cy="41148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university</a:t>
            </a:r>
            <a:endParaRPr lang="en-US" sz="1800" dirty="0"/>
          </a:p>
        </p:txBody>
      </p:sp>
      <p:sp>
        <p:nvSpPr>
          <p:cNvPr id="22" name="Text 15"/>
          <p:cNvSpPr txBox="1"/>
          <p:nvPr/>
        </p:nvSpPr>
        <p:spPr>
          <a:xfrm>
            <a:off x="1417320" y="3922776"/>
            <a:ext cx="2880360" cy="320040"/>
          </a:xfrm>
          <a:prstGeom prst="rect">
            <a:avLst/>
          </a:prstGeom>
          <a:noFill/>
          <a:ln/>
        </p:spPr>
        <p:txBody>
          <a:bodyPr wrap="square" lIns="0" tIns="0" rIns="0" bIns="0" rtlCol="0" anchor="ctr"/>
          <a:lstStyle/>
          <a:p>
            <a:pPr indent="0" marL="0">
              <a:buNone/>
            </a:pPr>
            <a:r>
              <a:rPr lang="en-US" sz="1400" dirty="0">
                <a:solidFill>
                  <a:srgbClr val="6E6460"/>
                </a:solidFill>
                <a:latin typeface="Calibri" pitchFamily="34" charset="0"/>
                <a:ea typeface="Calibri" pitchFamily="34" charset="-122"/>
                <a:cs typeface="Calibri" pitchFamily="34" charset="-120"/>
              </a:rPr>
              <a:t>университет</a:t>
            </a:r>
            <a:endParaRPr lang="en-US" sz="1400" dirty="0"/>
          </a:p>
        </p:txBody>
      </p:sp>
      <p:sp>
        <p:nvSpPr>
          <p:cNvPr id="23" name="Word exam"/>
          <p:cNvSpPr/>
          <p:nvPr/>
        </p:nvSpPr>
        <p:spPr>
          <a:xfrm>
            <a:off x="4709160" y="3419856"/>
            <a:ext cx="3977640" cy="914400"/>
          </a:xfrm>
          <a:prstGeom prst="roundRect">
            <a:avLst>
              <a:gd name="adj" fmla="val 15000"/>
            </a:avLst>
          </a:prstGeom>
          <a:solidFill>
            <a:srgbClr val="FFFFFF"/>
          </a:solidFill>
          <a:ln w="12700">
            <a:solidFill>
              <a:srgbClr val="FFFFFF"/>
            </a:solidFill>
            <a:prstDash val="solid"/>
          </a:ln>
          <a:effectLst>
            <a:outerShdw sx="100000" sy="100000" kx="0" ky="0" algn="bl" rotWithShape="0" blurRad="101600" dist="50800" dir="5400000">
              <a:srgbClr val="3B2A1F">
                <a:alpha val="12000"/>
              </a:srgbClr>
            </a:outerShdw>
          </a:effectLst>
        </p:spPr>
      </p:sp>
      <p:pic>
        <p:nvPicPr>
          <p:cNvPr id="24" name="Icon exam" descr="preencoded.png">    </p:cNvPr>
          <p:cNvPicPr>
            <a:picLocks noChangeAspect="1"/>
          </p:cNvPicPr>
          <p:nvPr/>
        </p:nvPicPr>
        <p:blipFill>
          <a:blip r:embed="rId6"/>
          <a:stretch>
            <a:fillRect/>
          </a:stretch>
        </p:blipFill>
        <p:spPr>
          <a:xfrm>
            <a:off x="4892040" y="3575304"/>
            <a:ext cx="603504" cy="603504"/>
          </a:xfrm>
          <a:prstGeom prst="rect">
            <a:avLst/>
          </a:prstGeom>
        </p:spPr>
      </p:pic>
      <p:sp>
        <p:nvSpPr>
          <p:cNvPr id="25" name="Text 17"/>
          <p:cNvSpPr txBox="1"/>
          <p:nvPr/>
        </p:nvSpPr>
        <p:spPr>
          <a:xfrm>
            <a:off x="5669280" y="3529584"/>
            <a:ext cx="2880360" cy="41148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exam</a:t>
            </a:r>
            <a:endParaRPr lang="en-US" sz="1800" dirty="0"/>
          </a:p>
        </p:txBody>
      </p:sp>
      <p:sp>
        <p:nvSpPr>
          <p:cNvPr id="26" name="Text 18"/>
          <p:cNvSpPr txBox="1"/>
          <p:nvPr/>
        </p:nvSpPr>
        <p:spPr>
          <a:xfrm>
            <a:off x="5669280" y="3922776"/>
            <a:ext cx="2880360" cy="320040"/>
          </a:xfrm>
          <a:prstGeom prst="rect">
            <a:avLst/>
          </a:prstGeom>
          <a:noFill/>
          <a:ln/>
        </p:spPr>
        <p:txBody>
          <a:bodyPr wrap="square" lIns="0" tIns="0" rIns="0" bIns="0" rtlCol="0" anchor="ctr"/>
          <a:lstStyle/>
          <a:p>
            <a:pPr indent="0" marL="0">
              <a:buNone/>
            </a:pPr>
            <a:r>
              <a:rPr lang="en-US" sz="1400" dirty="0">
                <a:solidFill>
                  <a:srgbClr val="6E6460"/>
                </a:solidFill>
                <a:latin typeface="Calibri" pitchFamily="34" charset="0"/>
                <a:ea typeface="Calibri" pitchFamily="34" charset="-122"/>
                <a:cs typeface="Calibri" pitchFamily="34" charset="-120"/>
              </a:rPr>
              <a:t>экзамен</a:t>
            </a:r>
            <a:endParaRPr lang="en-US" sz="14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460"/>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5120640" cy="1371600"/>
          </a:xfrm>
          <a:prstGeom prst="rect">
            <a:avLst/>
          </a:prstGeom>
          <a:noFill/>
          <a:ln/>
        </p:spPr>
        <p:txBody>
          <a:bodyPr wrap="square" lIns="0" tIns="0" rIns="0" bIns="0" rtlCol="0" anchor="b"/>
          <a:lstStyle/>
          <a:p>
            <a:pPr algn="l" indent="0" marL="0">
              <a:buNone/>
            </a:pPr>
            <a:r>
              <a:rPr lang="en-US" sz="4200" b="1" dirty="0">
                <a:solidFill>
                  <a:schemeClr val="bg1"/>
                </a:solidFill>
                <a:latin typeface="Cambria" pitchFamily="34" charset="0"/>
                <a:ea typeface="Cambria" pitchFamily="34" charset="-122"/>
                <a:cs typeface="Cambria" pitchFamily="34" charset="-120"/>
              </a:rPr>
              <a:t>Thank you!</a:t>
            </a:r>
            <a:endParaRPr lang="en-US" sz="4200" dirty="0"/>
          </a:p>
        </p:txBody>
      </p:sp>
      <p:sp>
        <p:nvSpPr>
          <p:cNvPr id="3" name="Text 0"/>
          <p:cNvSpPr/>
          <p:nvPr>
            <p:ph idx="101" type="body" hasCustomPrompt="1"/>
          </p:nvPr>
        </p:nvSpPr>
        <p:spPr>
          <a:xfrm>
            <a:off x="548640" y="2697480"/>
            <a:ext cx="5120640" cy="731520"/>
          </a:xfrm>
          <a:prstGeom prst="rect">
            <a:avLst/>
          </a:prstGeom>
          <a:noFill/>
          <a:ln/>
        </p:spPr>
        <p:txBody>
          <a:bodyPr wrap="square" lIns="0" tIns="0" rIns="0" bIns="0" rtlCol="0" anchor="t"/>
          <a:lstStyle/>
          <a:p>
            <a:pPr algn="l" indent="0" marL="0">
              <a:buNone/>
            </a:pPr>
            <a:r>
              <a:rPr lang="en-US" sz="2000" dirty="0">
                <a:solidFill>
                  <a:schemeClr val="accent2"/>
                </a:solidFill>
                <a:latin typeface="Calibri" pitchFamily="34" charset="0"/>
                <a:ea typeface="Calibri" pitchFamily="34" charset="-122"/>
                <a:cs typeface="Calibri" pitchFamily="34" charset="-120"/>
              </a:rPr>
              <a:t>Any questions?</a:t>
            </a:r>
            <a:endParaRPr lang="en-US" sz="2000" dirty="0"/>
          </a:p>
        </p:txBody>
      </p:sp>
      <p:sp>
        <p:nvSpPr>
          <p:cNvPr id="4" name="Text 2"/>
          <p:cNvSpPr txBox="1"/>
          <p:nvPr/>
        </p:nvSpPr>
        <p:spPr>
          <a:xfrm>
            <a:off x="548640" y="3429000"/>
            <a:ext cx="5120640" cy="1280160"/>
          </a:xfrm>
          <a:prstGeom prst="rect">
            <a:avLst/>
          </a:prstGeom>
          <a:noFill/>
          <a:ln/>
        </p:spPr>
        <p:txBody>
          <a:bodyPr wrap="square" lIns="0" tIns="0" rIns="0" bIns="0" rtlCol="0" anchor="t"/>
          <a:lstStyle/>
          <a:p>
            <a:pPr indent="0" marL="0">
              <a:buNone/>
            </a:pPr>
            <a:r>
              <a:rPr lang="en-US" sz="1500" b="1" dirty="0">
                <a:solidFill>
                  <a:schemeClr val="bg1"/>
                </a:solidFill>
                <a:latin typeface="Calibri" pitchFamily="34" charset="0"/>
                <a:ea typeface="Calibri" pitchFamily="34" charset="-122"/>
                <a:cs typeface="Calibri" pitchFamily="34" charset="-120"/>
              </a:rPr>
              <a:t>— What school are you at?</a:t>
            </a:r>
            <a:endParaRPr lang="en-US" sz="1500" dirty="0"/>
          </a:p>
          <a:p>
            <a:pPr indent="0" marL="0">
              <a:buNone/>
            </a:pPr>
            <a:r>
              <a:rPr lang="en-US" sz="1500" dirty="0">
                <a:solidFill>
                  <a:schemeClr val="bg1"/>
                </a:solidFill>
                <a:latin typeface="Calibri" pitchFamily="34" charset="0"/>
                <a:ea typeface="Calibri" pitchFamily="34" charset="-122"/>
                <a:cs typeface="Calibri" pitchFamily="34" charset="-120"/>
              </a:rPr>
              <a:t>— I'm at secondary school.</a:t>
            </a:r>
            <a:endParaRPr lang="en-US" sz="1500" dirty="0"/>
          </a:p>
          <a:p>
            <a:pPr indent="0" marL="0">
              <a:buNone/>
            </a:pPr>
            <a:r>
              <a:rPr lang="en-US" sz="1500" b="1" dirty="0">
                <a:solidFill>
                  <a:schemeClr val="bg1"/>
                </a:solidFill>
                <a:latin typeface="Calibri" pitchFamily="34" charset="0"/>
                <a:ea typeface="Calibri" pitchFamily="34" charset="-122"/>
                <a:cs typeface="Calibri" pitchFamily="34" charset="-120"/>
              </a:rPr>
              <a:t>— How old are you?</a:t>
            </a:r>
            <a:endParaRPr lang="en-US" sz="1500" dirty="0"/>
          </a:p>
          <a:p>
            <a:pPr indent="0" marL="0">
              <a:buNone/>
            </a:pPr>
            <a:r>
              <a:rPr lang="en-US" sz="1500" dirty="0">
                <a:solidFill>
                  <a:schemeClr val="bg1"/>
                </a:solidFill>
                <a:latin typeface="Calibri" pitchFamily="34" charset="0"/>
                <a:ea typeface="Calibri" pitchFamily="34" charset="-122"/>
                <a:cs typeface="Calibri" pitchFamily="34" charset="-120"/>
              </a:rPr>
              <a:t>— I'm 11.</a:t>
            </a:r>
            <a:endParaRPr lang="en-US" sz="1500" dirty="0"/>
          </a:p>
        </p:txBody>
      </p:sp>
      <p:sp>
        <p:nvSpPr>
          <p:cNvPr id="5" name="Halo"/>
          <p:cNvSpPr/>
          <p:nvPr/>
        </p:nvSpPr>
        <p:spPr>
          <a:xfrm>
            <a:off x="5989320" y="868680"/>
            <a:ext cx="2743200" cy="2743200"/>
          </a:xfrm>
          <a:prstGeom prst="ellipse">
            <a:avLst/>
          </a:prstGeom>
          <a:solidFill>
            <a:srgbClr val="FFFFFF">
              <a:alpha val="12000"/>
            </a:srgbClr>
          </a:solidFill>
          <a:ln w="12700">
            <a:solidFill>
              <a:srgbClr val="FFFFFF">
                <a:alpha val="0"/>
              </a:srgbClr>
            </a:solidFill>
            <a:prstDash val="solid"/>
          </a:ln>
        </p:spPr>
      </p:sp>
      <p:pic>
        <p:nvPicPr>
          <p:cNvPr id="6" name="Hands" descr="preencoded.png">    </p:cNvPr>
          <p:cNvPicPr>
            <a:picLocks noChangeAspect="1"/>
          </p:cNvPicPr>
          <p:nvPr/>
        </p:nvPicPr>
        <p:blipFill>
          <a:blip r:embed="rId1"/>
          <a:stretch>
            <a:fillRect/>
          </a:stretch>
        </p:blipFill>
        <p:spPr>
          <a:xfrm>
            <a:off x="6446520" y="1325880"/>
            <a:ext cx="1828800" cy="1828800"/>
          </a:xfrm>
          <a:prstGeom prst="rect">
            <a:avLst/>
          </a:prstGeom>
        </p:spPr>
      </p:pic>
      <p:sp>
        <p:nvSpPr>
          <p:cNvPr id="7" name="Logo badge"/>
          <p:cNvSpPr/>
          <p:nvPr/>
        </p:nvSpPr>
        <p:spPr>
          <a:xfrm>
            <a:off x="457200" y="274320"/>
            <a:ext cx="1463040" cy="777240"/>
          </a:xfrm>
          <a:prstGeom prst="roundRect">
            <a:avLst>
              <a:gd name="adj" fmla="val 14118"/>
            </a:avLst>
          </a:prstGeom>
          <a:solidFill>
            <a:srgbClr val="FFFFFF"/>
          </a:solidFill>
          <a:ln w="12700">
            <a:solidFill>
              <a:srgbClr val="FFFFFF"/>
            </a:solidFill>
            <a:prstDash val="solid"/>
          </a:ln>
        </p:spPr>
      </p:sp>
      <p:pic>
        <p:nvPicPr>
          <p:cNvPr id="8" name="Logo" descr="preencoded.png">    </p:cNvPr>
          <p:cNvPicPr>
            <a:picLocks noChangeAspect="1"/>
          </p:cNvPicPr>
          <p:nvPr/>
        </p:nvPicPr>
        <p:blipFill>
          <a:blip r:embed="rId2"/>
          <a:stretch>
            <a:fillRect/>
          </a:stretch>
        </p:blipFill>
        <p:spPr>
          <a:xfrm>
            <a:off x="548640" y="329184"/>
            <a:ext cx="1280160" cy="667512"/>
          </a:xfrm>
          <a:prstGeom prst="rect">
            <a:avLst/>
          </a:prstGeom>
        </p:spPr>
      </p:pic>
    </p:spTree>
  </p:cSld>
  <p:clrMapOvr>
    <a:masterClrMapping/>
  </p:clrMapOvr>
</p:sld>
</file>

<file path=ppt/theme/theme1.xml><?xml version="1.0" encoding="utf-8"?>
<a:theme xmlns:a="http://schemas.openxmlformats.org/drawingml/2006/main" name="Unlocking English">
  <a:themeElements>
    <a:clrScheme name="Unlocking English">
      <a:dk1>
        <a:srgbClr val="3B2A1F"/>
      </a:dk1>
      <a:lt1>
        <a:srgbClr val="FFFFFF"/>
      </a:lt1>
      <a:dk2>
        <a:srgbClr val="5A4FB0"/>
      </a:dk2>
      <a:lt2>
        <a:srgbClr val="FBFAF7"/>
      </a:lt2>
      <a:accent1>
        <a:srgbClr val="F4776A"/>
      </a:accent1>
      <a:accent2>
        <a:srgbClr val="F7B84B"/>
      </a:accent2>
      <a:accent3>
        <a:srgbClr val="86D3B5"/>
      </a:accent3>
      <a:accent4>
        <a:srgbClr val="A9A6EE"/>
      </a:accent4>
      <a:accent5>
        <a:srgbClr val="1F6B57"/>
      </a:accent5>
      <a:accent6>
        <a:srgbClr val="B8442F"/>
      </a:accent6>
      <a:hlink>
        <a:srgbClr val="5A4FB0"/>
      </a:hlink>
      <a:folHlink>
        <a:srgbClr val="6E6460"/>
      </a:folHlink>
    </a:clrScheme>
    <a:fontScheme name="Unlocking English">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Education in Russia — Portfolio project</dc:title>
  <dc:subject>PptxGenJS Presentation</dc:subject>
  <dc:creator>Unlocking English with Val</dc:creator>
  <cp:lastModifiedBy>Unlocking English with Val</cp:lastModifiedBy>
  <cp:revision>1</cp:revision>
  <dcterms:created xsi:type="dcterms:W3CDTF">2026-10-18T08:43:23Z</dcterms:created>
  <dcterms:modified xsi:type="dcterms:W3CDTF">2026-10-18T08:43:23Z</dcterms:modified>
</cp:coreProperties>
</file>